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9d34bee7ec4d02" /><Relationship Type="http://schemas.openxmlformats.org/officeDocument/2006/relationships/extended-properties" Target="/docProps/app.xml" Id="R27cca70382d2496f" /><Relationship Type="http://schemas.openxmlformats.org/officeDocument/2006/relationships/officeDocument" Target="/ppt/presentation.xml" Id="R16cc7b2a9bb04e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0a8f3fb1d64f68"/>
  </p:sldMasterIdLst>
  <p:notesMasterIdLst>
    <p:notesMasterId xmlns:r="http://schemas.openxmlformats.org/officeDocument/2006/relationships" r:id="Rfa54a488281c48e8"/>
  </p:notesMasterIdLst>
  <p:sldIdLst>
    <p:sldId xmlns:r="http://schemas.openxmlformats.org/officeDocument/2006/relationships" id="256" r:id="R75eafe236f6042a1"/>
    <p:sldId xmlns:r="http://schemas.openxmlformats.org/officeDocument/2006/relationships" id="257" r:id="R663aeaa9fd964fea"/>
    <p:sldId xmlns:r="http://schemas.openxmlformats.org/officeDocument/2006/relationships" id="258" r:id="R7aa47164fe804d98"/>
    <p:sldId xmlns:r="http://schemas.openxmlformats.org/officeDocument/2006/relationships" id="259" r:id="R49f2408ac73841f4"/>
    <p:sldId xmlns:r="http://schemas.openxmlformats.org/officeDocument/2006/relationships" id="260" r:id="R55701125e20e4580"/>
    <p:sldId xmlns:r="http://schemas.openxmlformats.org/officeDocument/2006/relationships" id="261" r:id="Ra664c9ee344f486e"/>
    <p:sldId xmlns:r="http://schemas.openxmlformats.org/officeDocument/2006/relationships" id="262" r:id="R45c34ddccf0043ec"/>
    <p:sldId xmlns:r="http://schemas.openxmlformats.org/officeDocument/2006/relationships" id="263" r:id="Raf7363b9a24f4c28"/>
    <p:sldId xmlns:r="http://schemas.openxmlformats.org/officeDocument/2006/relationships" id="264" r:id="Rf60de86d09f24a38"/>
    <p:sldId xmlns:r="http://schemas.openxmlformats.org/officeDocument/2006/relationships" id="265" r:id="Re9b7f66e4e28472a"/>
    <p:sldId xmlns:r="http://schemas.openxmlformats.org/officeDocument/2006/relationships" id="266" r:id="Rf010e78c08e94a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f124781bd44977" /><Relationship Type="http://schemas.openxmlformats.org/officeDocument/2006/relationships/slideMaster" Target="/ppt/slideMasters/slideMaster1.xml" Id="R830a8f3fb1d64f68" /><Relationship Type="http://schemas.openxmlformats.org/officeDocument/2006/relationships/notesMaster" Target="/ppt/notesMasters/notesMaster1.xml" Id="Rfa54a488281c48e8" /><Relationship Type="http://schemas.openxmlformats.org/officeDocument/2006/relationships/presProps" Target="/ppt/presProps.xml" Id="R0a79c9a5c7594649" /><Relationship Type="http://schemas.openxmlformats.org/officeDocument/2006/relationships/tableStyles" Target="/ppt/tableStyles.xml" Id="R46b7b2bad7bb40eb" /><Relationship Type="http://schemas.openxmlformats.org/officeDocument/2006/relationships/slide" Target="/ppt/slides/slide1.xml" Id="R75eafe236f6042a1" /><Relationship Type="http://schemas.openxmlformats.org/officeDocument/2006/relationships/slide" Target="/ppt/slides/slide2.xml" Id="R663aeaa9fd964fea" /><Relationship Type="http://schemas.openxmlformats.org/officeDocument/2006/relationships/slide" Target="/ppt/slides/slide3.xml" Id="R7aa47164fe804d98" /><Relationship Type="http://schemas.openxmlformats.org/officeDocument/2006/relationships/slide" Target="/ppt/slides/slide4.xml" Id="R49f2408ac73841f4" /><Relationship Type="http://schemas.openxmlformats.org/officeDocument/2006/relationships/slide" Target="/ppt/slides/slide5.xml" Id="R55701125e20e4580" /><Relationship Type="http://schemas.openxmlformats.org/officeDocument/2006/relationships/slide" Target="/ppt/slides/slide6.xml" Id="Ra664c9ee344f486e" /><Relationship Type="http://schemas.openxmlformats.org/officeDocument/2006/relationships/slide" Target="/ppt/slides/slide7.xml" Id="R45c34ddccf0043ec" /><Relationship Type="http://schemas.openxmlformats.org/officeDocument/2006/relationships/slide" Target="/ppt/slides/slide8.xml" Id="Raf7363b9a24f4c28" /><Relationship Type="http://schemas.openxmlformats.org/officeDocument/2006/relationships/slide" Target="/ppt/slides/slide9.xml" Id="Rf60de86d09f24a38" /><Relationship Type="http://schemas.openxmlformats.org/officeDocument/2006/relationships/slide" Target="/ppt/slides/slide10.xml" Id="Re9b7f66e4e28472a" /><Relationship Type="http://schemas.openxmlformats.org/officeDocument/2006/relationships/slide" Target="/ppt/slides/slide11.xml" Id="Rf010e78c08e94a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04ef64e32d4b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65cb8fe6dc4462" /><Relationship Type="http://schemas.openxmlformats.org/officeDocument/2006/relationships/notesMaster" Target="/ppt/notesMasters/notesMaster1.xml" Id="R9909b378ac914e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1911e0ec1049ff" /><Relationship Type="http://schemas.openxmlformats.org/officeDocument/2006/relationships/notesMaster" Target="/ppt/notesMasters/notesMaster1.xml" Id="R764fc00548b94e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e7a6e30b6c4756" /><Relationship Type="http://schemas.openxmlformats.org/officeDocument/2006/relationships/notesMaster" Target="/ppt/notesMasters/notesMaster1.xml" Id="R65bc62aded6048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9a4b0d73b6419b" /><Relationship Type="http://schemas.openxmlformats.org/officeDocument/2006/relationships/notesMaster" Target="/ppt/notesMasters/notesMaster1.xml" Id="R50fb6f6c58ed42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b90699c76547cc" /><Relationship Type="http://schemas.openxmlformats.org/officeDocument/2006/relationships/notesMaster" Target="/ppt/notesMasters/notesMaster1.xml" Id="R3b2854b5adeb40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f67feb60da4093" /><Relationship Type="http://schemas.openxmlformats.org/officeDocument/2006/relationships/notesMaster" Target="/ppt/notesMasters/notesMaster1.xml" Id="Re54d2c3b489843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a9563818bc4c03" /><Relationship Type="http://schemas.openxmlformats.org/officeDocument/2006/relationships/notesMaster" Target="/ppt/notesMasters/notesMaster1.xml" Id="R1c204defa0054e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d3007a90c542f2" /><Relationship Type="http://schemas.openxmlformats.org/officeDocument/2006/relationships/notesMaster" Target="/ppt/notesMasters/notesMaster1.xml" Id="Rcfe8cba6888c48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9b56d365754206" /><Relationship Type="http://schemas.openxmlformats.org/officeDocument/2006/relationships/notesMaster" Target="/ppt/notesMasters/notesMaster1.xml" Id="R87f5044d5a9d4a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b69172a9214293" /><Relationship Type="http://schemas.openxmlformats.org/officeDocument/2006/relationships/notesMaster" Target="/ppt/notesMasters/notesMaster1.xml" Id="R964833cbd89347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866dbe19cd4810" /><Relationship Type="http://schemas.openxmlformats.org/officeDocument/2006/relationships/notesMaster" Target="/ppt/notesMasters/notesMaster1.xml" Id="R0a39ab6cdd5345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Питч прототипа. Все показатели на слайдах демонстрационные.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AQoL здесь обозначает предложенный в кейсе Astana Quality of Life Score. Формула, показатели и веса на слайде являются предлагаемой структурой прототипа, а не утверждённой методикой.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значения на слайде иллюстративны. Расчёт использует прозрачную учебную кривую: оценка каждого домена зависит от доли бюджета; затем оценки агрегируются весами. Эти числа не являются оценкой реального качества жизни в Астане.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4a2cf215b048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ecfad9ba1d4bde" /><Relationship Type="http://schemas.openxmlformats.org/officeDocument/2006/relationships/slideLayout" Target="/ppt/slideLayouts/slideLayout1.xml" Id="R91a11bef88144b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a11bef88144b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78f0ab4574171" /><Relationship Type="http://schemas.openxmlformats.org/officeDocument/2006/relationships/notesSlide" Target="/ppt/notesSlides/notesSlide1.xml" Id="R0493d53a972b4d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a753506944bb9" /><Relationship Type="http://schemas.openxmlformats.org/officeDocument/2006/relationships/notesSlide" Target="/ppt/notesSlides/notesSlide2.xml" Id="R9424505679e14a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d29d775464699" /><Relationship Type="http://schemas.openxmlformats.org/officeDocument/2006/relationships/notesSlide" Target="/ppt/notesSlides/notesSlide3.xml" Id="R8af7f0707c284d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18453251441aa" /><Relationship Type="http://schemas.openxmlformats.org/officeDocument/2006/relationships/notesSlide" Target="/ppt/notesSlides/notesSlide4.xml" Id="R37c63d40657b4e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de56064f54a28" /><Relationship Type="http://schemas.openxmlformats.org/officeDocument/2006/relationships/notesSlide" Target="/ppt/notesSlides/notesSlide5.xml" Id="R57e6dc20cd844e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ebf8b21044a9c" /><Relationship Type="http://schemas.openxmlformats.org/officeDocument/2006/relationships/notesSlide" Target="/ppt/notesSlides/notesSlide6.xml" Id="Ra2af40f08d8b4e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7551b5ad4487a" /><Relationship Type="http://schemas.openxmlformats.org/officeDocument/2006/relationships/notesSlide" Target="/ppt/notesSlides/notesSlide7.xml" Id="Re3b01cf90d6248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5056b097b4278" /><Relationship Type="http://schemas.openxmlformats.org/officeDocument/2006/relationships/notesSlide" Target="/ppt/notesSlides/notesSlide8.xml" Id="R977846987c5c46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7335ffd214b03" /><Relationship Type="http://schemas.openxmlformats.org/officeDocument/2006/relationships/notesSlide" Target="/ppt/notesSlides/notesSlide9.xml" Id="Ref9cb625e9714a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ecf88fbfa4257" /><Relationship Type="http://schemas.openxmlformats.org/officeDocument/2006/relationships/notesSlide" Target="/ppt/notesSlides/notesSlide10.xml" Id="Rcd643553e02344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08d605ab844b4" /><Relationship Type="http://schemas.openxmlformats.org/officeDocument/2006/relationships/notesSlide" Target="/ppt/notesSlides/notesSlide11.xml" Id="Rcab22b02a1d847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9D3446-6D16-455F-A029-7D764D36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4229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4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A4BE4-EC3D-499E-BD8A-C6F66D42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ASTANA INNOVATIONS   /   HACKATHON SPECIAL TRACK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91706-CE90-4391-8BE4-F9327BBE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4"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Аким на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часов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BA427-E95A-42F9-9C0F-106A7270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3E0E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3E0E0"/>
                </a:solidFill>
                <a:latin typeface="Arial"/>
                <a:ea typeface="Arial"/>
                <a:cs typeface="Arial"/>
              </a:rPr>
              <a:t>Городской бюджет как интерактивный выбор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8EA8CF-B8C9-4394-835B-C9A43993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33850"/>
            <a:ext cx="619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FC4C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FC4C8"/>
                </a:solidFill>
                <a:latin typeface="Arial"/>
                <a:ea typeface="Arial"/>
                <a:cs typeface="Arial"/>
              </a:rPr>
              <a:t>Симулятор показывает, как приоритеты расходов меняют качество жизни в городе.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55DF5-AE21-46B8-98EC-DEECE593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1885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3EE8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59488-B6B3-44E1-9F8E-40474842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43525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ПРОТОТИП ЗА 5 ЧАСОВ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48B84-01E0-44D0-8E8E-406575BB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81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Концепция  /  работающая демонстрационная модель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D3331-5D0F-4958-9328-95DFF0B5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429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7BAC0"/>
                </a:solidFill>
                <a:latin typeface="Arial"/>
                <a:ea typeface="Arial"/>
                <a:cs typeface="Arial"/>
              </a:rPr>
              <a:t>ОДИН БЮДЖЕТ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991E6-28EC-4EFB-A0A2-8B7A4DF9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2395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034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829A7D-173A-4002-B883-55EF8CA0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3525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условных ед.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228179-0082-42F4-998C-F1C135F7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526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Транспорт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6140BD-4DC4-4A8D-B509-E33300BF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05100"/>
            <a:ext cx="2857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46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71438-C6CF-4F95-96B1-06588FC2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05100"/>
            <a:ext cx="857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B7A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8BD323-5CBF-4B79-95E3-F8BBAE1B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3526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BAC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98325A-2893-4C40-ACA7-27C291E5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575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Озеленение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A98201-F417-4353-A155-F24CBABD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09950"/>
            <a:ext cx="2857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46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CCE7B0-5A6D-4E78-9B86-2EB4E4F1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09950"/>
            <a:ext cx="571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EE8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E86B6D-C631-4985-8534-BF5A2B9B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0575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BAC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3AD273-0668-4428-A803-B7D97473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623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Соцсфера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B328F2-C02B-4BF2-AA5F-60274928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14800"/>
            <a:ext cx="2857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46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0B927E-E8D8-40F9-BC1D-198E0251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14800"/>
            <a:ext cx="571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D7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0476D0-7DD3-4646-B3F9-63400690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762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BAC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36A9E4-51BD-400D-9407-46B98782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672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Безопасность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0B4F2B-B68F-4D1B-A59A-094D61BA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9650"/>
            <a:ext cx="2857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46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4DB2ED-9539-4345-A87A-8A59A315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9650"/>
            <a:ext cx="428625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C6D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D31E2F-D8DD-433C-AAF5-E10ABBCC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4672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BAC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7E75D2-093F-48EA-8AA3-EE65F50D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720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Сервисы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2996FD-4B7B-45CA-AFBB-0597E90F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24500"/>
            <a:ext cx="2857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460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B49029-551D-4E12-B7AD-046BE96B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24500"/>
            <a:ext cx="428625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ABBB7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10BF98-2F10-43E1-841B-548AF004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1720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BAC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F80F3F-1887-4739-A969-EEEB5BF6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019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5 направлений  /  5 решений</a:t>
            </a:r>
          </a:p>
        </p:txBody>
      </p:sp>
    </p:spTree>
    <p:extLst>
      <p:ext uri="{BB962C8B-B14F-4D97-AF65-F5344CB8AC3E}">
        <p14:creationId xmlns:p14="http://schemas.microsoft.com/office/powerpoint/2010/main" val="18531804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2B98E0-B1D1-407C-A6AF-BFB35771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BBBF7-F88A-4F0C-B64B-926FD306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Каждый бюджетный выбор создаёт побочные эффекты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739B8-1897-4E21-BD2B-478B8360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ADB40-61CB-4FDD-9037-5610A3B6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C76"/>
                </a:solidFill>
                <a:latin typeface="Arial"/>
                <a:ea typeface="Arial"/>
                <a:cs typeface="Arial"/>
              </a:rPr>
              <a:t>ASTANA INNOVATIONS  /  СПЕЦТРЕК «УМНЫЙ ГОРОД»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ED4DD-8D63-479A-84F1-3A34B99B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484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C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012A1-E2ED-45BA-8E3C-63202D11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4686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764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Городской бюджет конечен.</a:t>
            </a:r>
          </a:p>
          <a:p xmlns:a="http://schemas.openxmlformats.org/drawingml/2006/main">
            <a:pPr>
              <a:defRPr sz="2400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Ожидания жителей разнородны.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9E82C-82E6-4C52-8D3E-BCC1F82E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24175"/>
            <a:ext cx="4514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Решение об одной статье меняет возможности в других направлениях.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56AF7-1A42-4814-911D-F5692438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438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447B4-936B-4302-859A-DAC57376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4438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2F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2F3B"/>
                </a:solidFill>
                <a:latin typeface="Arial"/>
                <a:ea typeface="Arial"/>
                <a:cs typeface="Arial"/>
              </a:rPr>
              <a:t>Без общего сценария спорят о приоритетах, а не о последствиях.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333A5B-5BCD-4D68-BD3D-2CE9DCA7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52575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1F2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8E365-7146-48A9-97F4-8035C9C7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383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71EBFC-02A6-4A08-AA57-78CB0A72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525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Транспорт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1D56F1-9BD0-4EDC-9D76-C788A5A6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4267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Доступность поездок и время в пути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EA6C0F-8EA1-403F-938E-D4F37C5B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860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8FB6D2-F706-4040-A8AF-D830C743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81325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1F2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ECE979-40CC-4B2B-A17E-B06F4C5B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670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6D502B-BD1E-4876-B106-D59428B0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813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Социальная сфера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4A5DA3-CE5B-4EBC-A477-A5B5E4D1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90900"/>
            <a:ext cx="4267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Доступ к поддержке и общественным услугам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8770C9-E600-4120-BC9A-F53AC7B4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1480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C335C4-3772-4F31-A34C-415796C1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10075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1F2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5749BD-DE86-4FAD-A797-23482E18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958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0E17DF-C36E-421F-B254-F30AED94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100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Городская среда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DB20CC-1DA2-431A-AEBC-6E97B9B1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19650"/>
            <a:ext cx="4267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Зелёные зоны, безопасность, сервисы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1359BC-AB37-402D-9C53-735C7D77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81025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Это рамка для обсуждения, не замена бюджетному анализу.</a:t>
            </a:r>
          </a:p>
        </p:txBody>
      </p:sp>
    </p:spTree>
    <p:extLst>
      <p:ext uri="{BB962C8B-B14F-4D97-AF65-F5344CB8AC3E}">
        <p14:creationId xmlns:p14="http://schemas.microsoft.com/office/powerpoint/2010/main" val="15451093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19864C-1733-4B3A-B8D6-0F0B7887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139E3-F659-4D80-9F7A-51D557B0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сценарий превращает спор в сравнение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69C8D-86E1-405F-A50F-F1CF1CAD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24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14393-868C-4C2C-A7C0-CD05B582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7BAC0"/>
                </a:solidFill>
                <a:latin typeface="Arial"/>
                <a:ea typeface="Arial"/>
                <a:cs typeface="Arial"/>
              </a:rPr>
              <a:t>ASTANA INNOVATIONS  /  СПЕЦТРЕК «УМНЫЙ ГОРОД»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8BD778-F3BE-4806-B684-281A636F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484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7BAC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81788-D59C-4819-BDA6-F3676E73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4667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Каждый игрок получает одинаковый виртуальный бюджет.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35B5B-8831-40DF-A630-F77A793B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4476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Изменяет пять долей и сразу видит сдвиг показателей.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13E2B-0629-4F78-B387-7FAF28AB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21240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84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C251ED-8109-45E4-BBAE-88CFFCCC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9575"/>
            <a:ext cx="1971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ПРОЗРАЧНЫЕ ПРАВИЛА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34E0E-6FB1-4947-876F-3DFC4D5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059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Итоговый индекс сопровождается разбором выигрышей и компромиссов.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C2EE0C-0CA6-449B-A8FE-D5FEAFC1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638300"/>
            <a:ext cx="1866900" cy="30670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12344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574B1-FA44-4070-B4CA-0D13432A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38325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32A1D9-7BCE-4815-8323-7A779F1C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47925"/>
            <a:ext cx="1504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Бюджет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457A93-9CBF-42A0-8049-4E40A5EA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67075"/>
            <a:ext cx="1504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76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3F4FEB-7E52-4A2F-91AF-D625637E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76625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100 ед. по 5 направлениям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24A370-B87C-4C50-B28F-E122695D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765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63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7628AD-E44E-4E10-8D3E-8245BC6B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38300"/>
            <a:ext cx="1866900" cy="30670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12344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AD7C16-A359-4A8F-B9E7-F01F6864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38325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13379C-AB22-4BA1-9922-3EF73923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47925"/>
            <a:ext cx="1504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98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Рассчитать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AA5909-6646-4668-BAEF-99AFC084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67075"/>
            <a:ext cx="1504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76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09CCC8-E958-4E11-A170-BF273EAE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76625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Показатели и перекрёстные эффекты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A6D9AC-1F73-42B2-8450-E89367CC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765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63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80C9A7-2900-4B8D-85E2-0BABABC3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638300"/>
            <a:ext cx="1866900" cy="30670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12344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C6DF43-E26C-4AF4-BCCE-0C5D07E7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38325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F4B3B8-5525-4ED0-8B04-E1FF0C55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47925"/>
            <a:ext cx="1504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81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Объяснить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F59426-75EE-4EEF-A5BF-5BAD217B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67075"/>
            <a:ext cx="1504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76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AA3FE3-7215-409B-AC21-DC7EAB0A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476625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Почему score изменился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602C77-97D6-488A-955B-581E61E7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105400"/>
            <a:ext cx="579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7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Пользователь видит не только итог, но и логику результата.</a:t>
            </a:r>
          </a:p>
        </p:txBody>
      </p:sp>
    </p:spTree>
    <p:extLst>
      <p:ext uri="{BB962C8B-B14F-4D97-AF65-F5344CB8AC3E}">
        <p14:creationId xmlns:p14="http://schemas.microsoft.com/office/powerpoint/2010/main" val="1622362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3BF7D9-6F5C-4530-A1AA-63CD4E77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ПРОДУКТ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0B395-81B8-4F2A-BF06-9051078F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Игровой экран: решения и последствия на одном поле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D41AF-3F83-4F63-91C5-D1101045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706A3D-740D-4D71-8ED5-9FE6DAF8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C76"/>
                </a:solidFill>
                <a:latin typeface="Arial"/>
                <a:ea typeface="Arial"/>
                <a:cs typeface="Arial"/>
              </a:rPr>
              <a:t>ASTANA INNOVATIONS  /  СПЕЦТРЕК «УМНЫЙ ГОРОД»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3E37A-D72A-4912-86FE-2CC3CFA2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484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C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325CA-DD55-4E7F-A239-924FEC38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685800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03730-3247-46B8-99FA-8481D956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3952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Распределение городского бюджета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C1942B-988C-4D10-90E9-65CC813A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00200"/>
            <a:ext cx="11525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1F2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B52B9-437E-472B-9A38-888D1D7A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6097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 / 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191BF-395C-485E-AF05-3164231B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859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Ваша стратегия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4B284F-CF23-4DD0-A06E-37DAFB09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2F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F3B"/>
                </a:solidFill>
                <a:latin typeface="Arial"/>
                <a:ea typeface="Arial"/>
                <a:cs typeface="Arial"/>
              </a:rPr>
              <a:t>Транспорт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DFE09D-65F6-4DA0-B5AD-63E5A023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28900"/>
            <a:ext cx="338137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EAE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8E567D-C4B8-4013-B800-08F8CB0E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28900"/>
            <a:ext cx="225425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71B595-78C0-4492-BE0D-E7CB254B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4317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7D5166-82F4-4D16-826B-88B39453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765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2F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F3B"/>
                </a:solidFill>
                <a:latin typeface="Arial"/>
                <a:ea typeface="Arial"/>
                <a:cs typeface="Arial"/>
              </a:rPr>
              <a:t>Озеленение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F2C1DA-37E2-43A0-8F48-9CE80992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62300"/>
            <a:ext cx="338137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EAE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9ADB05-4203-42EF-A7DB-92C21636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62300"/>
            <a:ext cx="1502833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1A5750-8758-4866-8770-EEFD8B89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7657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B3DEAF-CEF7-4F5A-BB09-4D06B5FE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99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2F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F3B"/>
                </a:solidFill>
                <a:latin typeface="Arial"/>
                <a:ea typeface="Arial"/>
                <a:cs typeface="Arial"/>
              </a:rPr>
              <a:t>Соцсфера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9F9762-1E3D-426F-955E-03D8C267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95700"/>
            <a:ext cx="338137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EAE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A123F9-3103-4EB1-9A10-F7CA3970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95700"/>
            <a:ext cx="1502833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B4A9CD-8B91-462B-8EC5-C46AE279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0997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638E54-A4C3-4016-BBD1-6DB4BEF5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433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2F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F3B"/>
                </a:solidFill>
                <a:latin typeface="Arial"/>
                <a:ea typeface="Arial"/>
                <a:cs typeface="Arial"/>
              </a:rPr>
              <a:t>Безопасность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59D6C2-F6F9-49FA-9409-48244ED8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29100"/>
            <a:ext cx="338137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EAE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6503B2-2AA0-4CE3-B01D-E18DD762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29100"/>
            <a:ext cx="1127125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79185A-4E90-4B40-A6BE-592A4C6A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4337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74FAC8-00F8-4EB7-8BA7-41954FCD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767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2F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F3B"/>
                </a:solidFill>
                <a:latin typeface="Arial"/>
                <a:ea typeface="Arial"/>
                <a:cs typeface="Arial"/>
              </a:rPr>
              <a:t>Сервисы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3F8A8F-D1E5-4829-9050-07E01F0D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62500"/>
            <a:ext cx="338137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EAE6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9A127F-82BB-4373-8632-10E5A7E2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62500"/>
            <a:ext cx="1127125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36A451-D4CC-40DC-A603-DBD7196B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7677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93ED84-34D8-41D2-B819-2245A849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Доли меняются интерактивно; общий бюджет остаётся фиксированным.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D9DAD2-F5B4-474F-BD80-D9FD24FE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438275"/>
            <a:ext cx="3752850" cy="434340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0B1F2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BAD4B7-3537-436C-BC69-C020A9EF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57350"/>
            <a:ext cx="309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ASTANA QUALITY OF LIFE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6D8A97-0659-47AC-A8AD-9A068FCE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28825"/>
            <a:ext cx="2238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753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63.5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170ED4-039D-413D-B23E-60B76031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526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/ 100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D2A6D1-84A6-452F-9AC0-2E73A9EE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867025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5D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1B077D-F56D-432D-956D-2B63801C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48000"/>
            <a:ext cx="300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921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повлияло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FF8D73-EABB-4FC5-B3DA-E254B765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86150"/>
            <a:ext cx="3000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Транспорт вырос. Ресурс на другие направления сократился.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6C4E64-69EA-4FD0-B647-086D9179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543425"/>
            <a:ext cx="22383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847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68C69D-8E70-4C97-96F6-81C5CECD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552950"/>
            <a:ext cx="2085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УЧЕБНЫЙ РАСЧЁТ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A0E541-7AB1-4F87-9684-5D29D22E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019675"/>
            <a:ext cx="29813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96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Текущий пример: модельная оценка, не прогноз.</a:t>
            </a:r>
          </a:p>
        </p:txBody>
      </p:sp>
    </p:spTree>
    <p:extLst>
      <p:ext uri="{BB962C8B-B14F-4D97-AF65-F5344CB8AC3E}">
        <p14:creationId xmlns:p14="http://schemas.microsoft.com/office/powerpoint/2010/main" val="13312056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05BB51-C21E-41DB-B22A-6DE7055D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ОПЫТ ПОЛЬЗОВАТЕЛЯ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A86D8-BD8F-438E-81BD-16A5381C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Пять решений строят короткую игровую сессию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1C6E4-0DD1-4BFE-9E63-4FD0B286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054B28-2FF9-4AFD-9D87-3EA83828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C76"/>
                </a:solidFill>
                <a:latin typeface="Arial"/>
                <a:ea typeface="Arial"/>
                <a:cs typeface="Arial"/>
              </a:rPr>
              <a:t>ASTANA INNOVATIONS  /  СПЕЦТРЕК «УМНЫЙ ГОРОД»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D26C2-03AB-4B5C-96C2-F0591FBC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484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C7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BA24F-024B-422E-B668-192E4616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1695450" cy="1819275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8B701-DDA8-4231-87C4-80164C87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90500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EB9BF-E50E-4C4B-845C-5704E45F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49555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Транспорт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253B78-296D-4382-8825-828E333E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943225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Решить долю бюджета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28029-0204-4383-945D-0FC357AD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40982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394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D569D-F48F-4F6F-960F-C064DD05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24025"/>
            <a:ext cx="1695450" cy="1819275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295C5B-FB15-4681-B942-AFFFD050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90500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7F83C-B6B7-4AF1-A2B4-65EB02CC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49555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Озеленение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A3DDC5-929E-4E11-B044-8556A0A6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943225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Выделить средства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11A4CC-ECF7-44B8-BF36-874FE773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40982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394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AD89E1-22ED-4578-84D4-2DA44CDB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24025"/>
            <a:ext cx="1695450" cy="1819275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396023-9090-4DB4-945D-CACE6B24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90500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388790-556B-4A2A-89E8-155190A5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49555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Соцсфера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D2119C-A6D5-441D-A900-37EC611A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943225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Выбрать приоритет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D7EB38-0970-4D64-91D4-A01A1BBD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40982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394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91A124-60EA-454A-B0CE-0C1B7749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724025"/>
            <a:ext cx="1695450" cy="1819275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F8F9A5-7186-4A18-A38E-067A3EF9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90500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D5422C-89ED-40FB-882F-52F99D75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49555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Безопасность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953201-39D5-404A-804C-48C51B5E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943225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Назначить долю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8201FF-7749-49AD-8D77-B50510CB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0982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394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2D9744-E56B-4580-96A0-79CDE71B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724025"/>
            <a:ext cx="1695450" cy="1819275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9C743D-73BA-4218-83F2-32D50DBF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90500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B177F2-2BBA-4BFC-A6C8-1C182FD1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49555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Сервисы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E72CE2-7B22-4EC4-A027-ED82083C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943225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Сформировать бюджет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F79EFB-F74D-46AF-B3E1-696709E8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1071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FEA16C-CE2F-447C-8BFD-1A97DE20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4191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Пять решений по статьям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A1CBA7-DBCC-473F-9DDC-BD010C6F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43475"/>
            <a:ext cx="4238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Короткий игровой раунд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99EFCA-0450-471D-B80A-93C3EE1E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400550"/>
            <a:ext cx="4191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Хакатонный спринт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46E446-E634-4FEE-9448-A26F125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943475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MVP за 5 часов в Codex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290495-3A1A-49EB-A7D4-84B12D87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43575"/>
            <a:ext cx="1071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Пять долей бюджета формируют пять решений. После распределения симулятор показывает AQoL.</a:t>
            </a:r>
          </a:p>
        </p:txBody>
      </p:sp>
    </p:spTree>
    <p:extLst>
      <p:ext uri="{BB962C8B-B14F-4D97-AF65-F5344CB8AC3E}">
        <p14:creationId xmlns:p14="http://schemas.microsoft.com/office/powerpoint/2010/main" val="15589471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47AD6C-B4C3-4C31-A7CF-CAF23765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ПРИНЦИП ДОВЕРИЯ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EFF359-CF74-4A9E-A4D7-B4EA95FA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AQoL считает детерминированная модель, ИИ объясняет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C5AC3F-7A94-4AF0-A9BD-440BDF39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24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BDA25-FA12-411E-B850-7DAAD22B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7BAC0"/>
                </a:solidFill>
                <a:latin typeface="Arial"/>
                <a:ea typeface="Arial"/>
                <a:cs typeface="Arial"/>
              </a:rPr>
              <a:t>ASTANA INNOVATIONS  /  СПЕЦТРЕК «УМНЫЙ ГОРОД»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5A0BD-F2D3-4B8A-BE0D-E5B6C289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484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7BAC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5C043-2534-46B2-9BFC-F88AB37E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195262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2344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CB714-C01B-4979-A4D9-498DBDE8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478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ВХОД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03EA7-0771-4955-BB98-2EF7B19A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00275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Доли бюджета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66A733-D975-4E85-9982-C5370FB6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05740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95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48CA56-B801-4217-B724-ECBFD059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14500"/>
            <a:ext cx="195262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2344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EE28AA-3E5A-4436-B26A-CB6EF36A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478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952CB-D222-40B2-A8E9-EBCA03E8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00275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Правила эффектов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8DD7D1-632E-4D78-A6D7-C0E09F4E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05740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95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DCA9CB-E81C-43A4-8D7D-3A1A2F88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14500"/>
            <a:ext cx="195262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2344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B84BE6-05A1-4ACC-B54C-FE020D0F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8478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ПОКАЗАТЕЛИ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0C8C96-6EB6-42B7-A689-2B9444AA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200275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доменов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C6F61B-171C-4E4F-8A1F-25F73995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05740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95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431500-C663-4FB0-B418-12919DB5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714500"/>
            <a:ext cx="195262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2344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46D4E4-B991-4E89-B53A-5D4A0F46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8478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E3FDCF-D147-4BE7-A586-FA852DA5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200275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Взвешенный итог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ABFDFD-963E-4BD0-8EF1-38D4C2C2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05740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95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662D39-1A52-497A-B3E9-B0118463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714500"/>
            <a:ext cx="195262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2344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EA93FE-4744-4853-A793-EC175524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18478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ОБЪЯСНЕНИЕ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4E47C5-8329-4B4B-ABEF-13AD455F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200275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Причины и trade-offs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FA4DD4-C1B6-45DB-9D47-94550925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4914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Предлагаемая формула для прототипа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664A75-AD09-4FE0-A2BA-27BDDB66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5095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Домен = clamp(60 + 2 × (доля − 20), 20, 95)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AQoL = Σ (вес × домен)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8BAE71-FE3C-4C09-A6D5-59B7CE3A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Кривая учебная. Метрики, веса и связи предстоит согласовать.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D24542-1A2B-4896-8458-6B6B20BF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57575"/>
            <a:ext cx="190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5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F427F4-68CE-4459-9A20-1CCAD122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147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Граница ответственности ИИ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11526F-2CB5-4EB2-B054-E449A7D1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00500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11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 считает score по правилам. ИИ формулирует объяснение на основе расчёта.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167584-5FEA-40E9-AD4D-97FDB642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981575"/>
            <a:ext cx="466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Так числовой результат воспроизводим, а текст не подменяет методику.</a:t>
            </a:r>
          </a:p>
        </p:txBody>
      </p:sp>
    </p:spTree>
    <p:extLst>
      <p:ext uri="{BB962C8B-B14F-4D97-AF65-F5344CB8AC3E}">
        <p14:creationId xmlns:p14="http://schemas.microsoft.com/office/powerpoint/2010/main" val="11866722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6A4ECD-2638-457B-90CB-A6B14683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ДЕМОНСТРАЦИОННЫЙ РАУНД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C0840-C9DE-43A5-B138-397ACF86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Три стратегии дают предмет для сравнения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973B2-FA35-4ED7-A345-9B85EF09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DFFAB-D9C6-404F-BE48-8066E829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C76"/>
                </a:solidFill>
                <a:latin typeface="Arial"/>
                <a:ea typeface="Arial"/>
                <a:cs typeface="Arial"/>
              </a:rPr>
              <a:t>ASTANA INNOVATIONS  /  СПЕЦТРЕК «УМНЫЙ ГОРОД»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12E99-8DC6-42DD-BA05-0E3120D9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484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C7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FD5970-0A36-42B6-9780-32D9AD45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668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Один и тот же бюджет 100 ед.  /  модельные оценки для демонстрации логики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68041-B29C-4936-B2D8-3500AC6E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3352800" cy="3248025"/>
          </a:xfrm>
          <a:prstGeom xmlns:a="http://schemas.openxmlformats.org/drawingml/2006/main" prst="roundRect">
            <a:avLst>
              <a:gd name="adj" fmla="val 23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5136C-611C-4D04-9581-D994C0F8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33528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B7A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A69658-BF81-4A04-B16C-8EFB35AA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Сбалансированная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1C7C26-200B-4FE1-9894-B166AC1F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20 ед. на каждое направление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319298-AB17-4E6E-AD04-08F3A20E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71825"/>
            <a:ext cx="109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491DB7-3E58-47CF-AB84-6D7A5C49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81375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C76"/>
                </a:solidFill>
                <a:latin typeface="Arial"/>
                <a:ea typeface="Arial"/>
                <a:cs typeface="Arial"/>
              </a:rPr>
              <a:t>AQoL / 100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D617D1-F96E-4B56-88C2-80F1698D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428625" cy="224790"/>
          </a:xfrm>
          <a:prstGeom xmlns:a="http://schemas.openxmlformats.org/drawingml/2006/main" prst="roundRect">
            <a:avLst>
              <a:gd name="adj" fmla="val 33898"/>
            </a:avLst>
          </a:prstGeom>
          <a:solidFill xmlns:a="http://schemas.openxmlformats.org/drawingml/2006/main">
            <a:srgbClr val="20B7A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C8981C-0B3B-439B-BA13-6023C43A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962400"/>
            <a:ext cx="428625" cy="224790"/>
          </a:xfrm>
          <a:prstGeom xmlns:a="http://schemas.openxmlformats.org/drawingml/2006/main" prst="roundRect">
            <a:avLst>
              <a:gd name="adj" fmla="val 33898"/>
            </a:avLst>
          </a:prstGeom>
          <a:solidFill xmlns:a="http://schemas.openxmlformats.org/drawingml/2006/main">
            <a:srgbClr val="20B7A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F45877-1A9D-4BD7-A3DC-9772DA35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962400"/>
            <a:ext cx="428625" cy="224790"/>
          </a:xfrm>
          <a:prstGeom xmlns:a="http://schemas.openxmlformats.org/drawingml/2006/main" prst="roundRect">
            <a:avLst>
              <a:gd name="adj" fmla="val 33898"/>
            </a:avLst>
          </a:prstGeom>
          <a:solidFill xmlns:a="http://schemas.openxmlformats.org/drawingml/2006/main">
            <a:srgbClr val="20B7A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AF90BE-80DB-4764-ABF2-AF7249D2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962400"/>
            <a:ext cx="428625" cy="224790"/>
          </a:xfrm>
          <a:prstGeom xmlns:a="http://schemas.openxmlformats.org/drawingml/2006/main" prst="roundRect">
            <a:avLst>
              <a:gd name="adj" fmla="val 33898"/>
            </a:avLst>
          </a:prstGeom>
          <a:solidFill xmlns:a="http://schemas.openxmlformats.org/drawingml/2006/main">
            <a:srgbClr val="20B7A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AA2111-1E78-42BC-AFC7-C5D1241A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62400"/>
            <a:ext cx="428625" cy="224790"/>
          </a:xfrm>
          <a:prstGeom xmlns:a="http://schemas.openxmlformats.org/drawingml/2006/main" prst="roundRect">
            <a:avLst>
              <a:gd name="adj" fmla="val 33898"/>
            </a:avLst>
          </a:prstGeom>
          <a:solidFill xmlns:a="http://schemas.openxmlformats.org/drawingml/2006/main">
            <a:srgbClr val="20B7A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CD78DD-C1A5-4940-85CE-60DF290B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Индекс не выбирает стратегию за город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27EB53-909D-4E1D-B882-53CA04CD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66900"/>
            <a:ext cx="3352800" cy="3248025"/>
          </a:xfrm>
          <a:prstGeom xmlns:a="http://schemas.openxmlformats.org/drawingml/2006/main" prst="roundRect">
            <a:avLst>
              <a:gd name="adj" fmla="val 23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A886C7-1F73-4A50-928C-8341A58F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66900"/>
            <a:ext cx="33528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D7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64ACFF-D7E5-4F9E-8C4A-F1D9C437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Приоритет транспорта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0E0B68-362E-480F-AC43-E2F1C3B0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43175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40 ед. транспорту, по 15 остальным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B4B4E7-D582-4DAB-8C1A-4438ADA2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71825"/>
            <a:ext cx="109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63.5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59B952-BECF-4ACB-805B-FA1E3F2A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81375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C76"/>
                </a:solidFill>
                <a:latin typeface="Arial"/>
                <a:ea typeface="Arial"/>
                <a:cs typeface="Arial"/>
              </a:rPr>
              <a:t>AQoL / 100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9A90A5-8A7A-405D-A55E-8D6C82ED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62400"/>
            <a:ext cx="428625" cy="44958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AD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D64364-46E7-4D93-9CC6-A2705C7A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962400"/>
            <a:ext cx="428625" cy="168593"/>
          </a:xfrm>
          <a:prstGeom xmlns:a="http://schemas.openxmlformats.org/drawingml/2006/main" prst="roundRect">
            <a:avLst>
              <a:gd name="adj" fmla="val 45198"/>
            </a:avLst>
          </a:prstGeom>
          <a:solidFill xmlns:a="http://schemas.openxmlformats.org/drawingml/2006/main">
            <a:srgbClr val="FFAD7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8B5F99-7C22-43C1-90E0-150A58D1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962400"/>
            <a:ext cx="428625" cy="168593"/>
          </a:xfrm>
          <a:prstGeom xmlns:a="http://schemas.openxmlformats.org/drawingml/2006/main" prst="roundRect">
            <a:avLst>
              <a:gd name="adj" fmla="val 45198"/>
            </a:avLst>
          </a:prstGeom>
          <a:solidFill xmlns:a="http://schemas.openxmlformats.org/drawingml/2006/main">
            <a:srgbClr val="FFAD7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E2E49C-A561-4DF5-A7B1-7CD312CC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962400"/>
            <a:ext cx="428625" cy="168593"/>
          </a:xfrm>
          <a:prstGeom xmlns:a="http://schemas.openxmlformats.org/drawingml/2006/main" prst="roundRect">
            <a:avLst>
              <a:gd name="adj" fmla="val 45198"/>
            </a:avLst>
          </a:prstGeom>
          <a:solidFill xmlns:a="http://schemas.openxmlformats.org/drawingml/2006/main">
            <a:srgbClr val="FFAD72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BDE4B5-6F7E-4447-BED6-C0573736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62400"/>
            <a:ext cx="428625" cy="168593"/>
          </a:xfrm>
          <a:prstGeom xmlns:a="http://schemas.openxmlformats.org/drawingml/2006/main" prst="roundRect">
            <a:avLst>
              <a:gd name="adj" fmla="val 45198"/>
            </a:avLst>
          </a:prstGeom>
          <a:solidFill xmlns:a="http://schemas.openxmlformats.org/drawingml/2006/main">
            <a:srgbClr val="FFAD72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7BD43E-36FF-4B05-A1D7-5C67F7A3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291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Индекс не выбирает стратегию за город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62FB65-715F-446A-81EF-F467727D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66900"/>
            <a:ext cx="3352800" cy="3248025"/>
          </a:xfrm>
          <a:prstGeom xmlns:a="http://schemas.openxmlformats.org/drawingml/2006/main" prst="roundRect">
            <a:avLst>
              <a:gd name="adj" fmla="val 23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04E561-5868-49E3-A79D-3C804985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66900"/>
            <a:ext cx="33528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C6D0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DFFE51-9929-4CE2-9E26-61A8628F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Приоритет соцсферы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E71C94-D183-4749-87DA-F0BAC09D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43175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36 ед. социальной сфере, 16 остальным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61D8A5-3441-494D-A34A-15CAD3F9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71825"/>
            <a:ext cx="109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61.6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0AED87-BB45-46DE-8296-605D3D3B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81375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C76"/>
                </a:solidFill>
                <a:latin typeface="Arial"/>
                <a:ea typeface="Arial"/>
                <a:cs typeface="Arial"/>
              </a:rPr>
              <a:t>AQoL / 100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E3CC1F-643B-4178-BB33-9E4F032A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62400"/>
            <a:ext cx="428625" cy="179832"/>
          </a:xfrm>
          <a:prstGeom xmlns:a="http://schemas.openxmlformats.org/drawingml/2006/main" prst="roundRect">
            <a:avLst>
              <a:gd name="adj" fmla="val 42373"/>
            </a:avLst>
          </a:prstGeom>
          <a:solidFill xmlns:a="http://schemas.openxmlformats.org/drawingml/2006/main">
            <a:srgbClr val="80C6D0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2CFAAD-0FE9-494A-9B8A-BA16A912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962400"/>
            <a:ext cx="428625" cy="179832"/>
          </a:xfrm>
          <a:prstGeom xmlns:a="http://schemas.openxmlformats.org/drawingml/2006/main" prst="roundRect">
            <a:avLst>
              <a:gd name="adj" fmla="val 42373"/>
            </a:avLst>
          </a:prstGeom>
          <a:solidFill xmlns:a="http://schemas.openxmlformats.org/drawingml/2006/main">
            <a:srgbClr val="80C6D0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4CAEB0-3A9E-4763-83B9-60661F35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62400"/>
            <a:ext cx="428625" cy="404622"/>
          </a:xfrm>
          <a:prstGeom xmlns:a="http://schemas.openxmlformats.org/drawingml/2006/main" prst="roundRect">
            <a:avLst>
              <a:gd name="adj" fmla="val 18832"/>
            </a:avLst>
          </a:prstGeom>
          <a:solidFill xmlns:a="http://schemas.openxmlformats.org/drawingml/2006/main">
            <a:srgbClr val="80C6D0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29A227-4B86-4CEE-B1B1-3F1C5688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962400"/>
            <a:ext cx="428625" cy="179832"/>
          </a:xfrm>
          <a:prstGeom xmlns:a="http://schemas.openxmlformats.org/drawingml/2006/main" prst="roundRect">
            <a:avLst>
              <a:gd name="adj" fmla="val 42373"/>
            </a:avLst>
          </a:prstGeom>
          <a:solidFill xmlns:a="http://schemas.openxmlformats.org/drawingml/2006/main">
            <a:srgbClr val="80C6D0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99B08D-7B29-4535-A33C-DFD5A408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962400"/>
            <a:ext cx="428625" cy="179832"/>
          </a:xfrm>
          <a:prstGeom xmlns:a="http://schemas.openxmlformats.org/drawingml/2006/main" prst="roundRect">
            <a:avLst>
              <a:gd name="adj" fmla="val 42373"/>
            </a:avLst>
          </a:prstGeom>
          <a:solidFill xmlns:a="http://schemas.openxmlformats.org/drawingml/2006/main">
            <a:srgbClr val="80C6D0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CDA73B-F4C8-42B8-802E-16CE9A8E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291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Индекс не выбирает стратегию за город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3601C1-0B7C-435C-935A-745BC127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57825"/>
            <a:ext cx="10668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2F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F3B"/>
                </a:solidFill>
                <a:latin typeface="Arial"/>
                <a:ea typeface="Arial"/>
                <a:cs typeface="Arial"/>
              </a:rPr>
              <a:t>Для рабочего пилота оценочные правила нужно заменить согласованной методикой и данными.</a:t>
            </a:r>
          </a:p>
        </p:txBody>
      </p:sp>
    </p:spTree>
    <p:extLst>
      <p:ext uri="{BB962C8B-B14F-4D97-AF65-F5344CB8AC3E}">
        <p14:creationId xmlns:p14="http://schemas.microsoft.com/office/powerpoint/2010/main" val="17153991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5A4432-5511-404D-B15D-979BBD9C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РОЛЬ 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405EB-EF97-4297-BBD8-5A04F15F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ИИ полезен там, где он помогает понять модель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05198-DF9C-4D98-843D-FFAD3973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24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7588AF-EBC7-460F-95F5-88FE031D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7BAC0"/>
                </a:solidFill>
                <a:latin typeface="Arial"/>
                <a:ea typeface="Arial"/>
                <a:cs typeface="Arial"/>
              </a:rPr>
              <a:t>ASTANA INNOVATIONS  /  СПЕЦТРЕК «УМНЫЙ ГОРОД»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9F8E2-B121-4655-9162-A42B32BE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484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7BAC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0B078-EBDE-41B6-B8F0-0AF66459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 MVP ИИ может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70808-B4D5-4C61-867A-4081C322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7A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B832F-00CF-4F4B-BC38-70660193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43125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перевести таблицу эффектов в человеческое объяснение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987DE1-2CEC-4D4C-8EDD-8F029B59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7A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00EC39-43B0-4DD7-827E-6AD03D82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19425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ответить на вопрос «почему score снизился?»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5DE36-C559-4F54-BC52-E2FB8F09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7A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64CDBD-2145-465A-9B65-CEF9439D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95725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сравнить стратегии и выделить компромисс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CCB654-8A26-4D2C-B3F7-68F95E5E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438275"/>
            <a:ext cx="19050" cy="397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5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3059F7-0DE9-4652-8638-1699329D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438275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Что остаётся контролируемым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450AE9-C8FD-4341-9EBC-F422DC9D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33600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2276F9-A8DF-406C-AAFB-E1509531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133600"/>
            <a:ext cx="3248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считает явная формула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3484B-1A31-4B9D-B89E-E30D4E88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765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5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8EFC64-7D05-4AA6-BE96-2A9D3B71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95625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Причинность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F0C04B-CE85-49BB-BAE3-233F0F5F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095625"/>
            <a:ext cx="3248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задают правила симулятора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5256DD-0016-40AE-AAE8-56091BB4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385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5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422C8D-EFF8-4484-830C-F8FD9F4E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57650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47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Генерация ИИ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C76515-F1CF-4106-8970-C6313933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057650"/>
            <a:ext cx="3248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только объясняет рассчитанное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543433-97F8-4FD6-BD02-90D9527C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005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5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0CA1FD-4EB6-4B18-A583-08DF1058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Правило пилота: ни один ответ модели не меняет бюджет или индекс сам по себе.</a:t>
            </a:r>
          </a:p>
        </p:txBody>
      </p:sp>
    </p:spTree>
    <p:extLst>
      <p:ext uri="{BB962C8B-B14F-4D97-AF65-F5344CB8AC3E}">
        <p14:creationId xmlns:p14="http://schemas.microsoft.com/office/powerpoint/2010/main" val="3337961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5173E3-D706-455C-9F50-4E084A6F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ХАКАТОННЫЙ ПЛАН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C4011A-C84E-456F-8911-F36855D4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599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План сборки Codex: работающий вертикальный срез за 5 часов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D4184-830F-410D-B453-81167F54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988CD-6010-4865-8547-0652C863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C76"/>
                </a:solidFill>
                <a:latin typeface="Arial"/>
                <a:ea typeface="Arial"/>
                <a:cs typeface="Arial"/>
              </a:rPr>
              <a:t>ASTANA INNOVATIONS  /  СПЕЦТРЕК «УМНЫЙ ГОРОД»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A33D9-154B-4059-A1B8-2EAE5CAB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484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C7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7B0BB-5E03-4EB5-8410-756D3CE0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00:00–00:30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1E045-F610-43E8-8A69-6D22F5AE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4382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Зафиксировать сценарий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665C7-B099-4095-B5F3-0493DC04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38275"/>
            <a:ext cx="5029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5 направлений, бюджет, допущения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46FDF-7C16-45BB-BAC6-0DAD6F1C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1D4E6-35DE-4566-9AB6-7A3645DB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812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00:30–01:30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7CEA26-17B9-46FF-8CBA-EE941ED9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18122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Собрать интерфейс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C831C1-51BF-4490-BC69-22C9E86C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81225"/>
            <a:ext cx="5029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Распределение и live-результат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4D24CC-C485-407D-978D-A6EA9909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98ED37-4FB9-4AC2-9B75-6678DAA7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2417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01:30–02:30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98B916-D67C-421A-82CD-773CCCA5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9241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Подключить модель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A35E25-3E57-441C-9967-5DEA4DAD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24175"/>
            <a:ext cx="5029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Сумма 100, правила эффектов, 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1565F5-A757-4CD0-837C-3F257ECE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81A22D-FDB4-4C18-A412-782B203B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02:30–03:30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3BC614-BFE1-44B9-B2C5-1770F19C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66712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Добавить объяснение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AB8E27-05CF-405F-AE45-56744E5E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67125"/>
            <a:ext cx="5029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Причины изменения и компромиссы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49BF0D-BCBE-4B94-886F-EE129E34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101B2D-866B-4F73-98C9-1923FAEE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007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03:30–04:30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906BE5-C055-4CE7-BF6E-2EDF80CD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4100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Подготовить демо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3D6D81-92EC-41F5-A196-08938F25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10075"/>
            <a:ext cx="5029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3 стратегии, подсказки ведущему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45D803-3B87-4DD9-84D0-C5DCBDBF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4FEA2D-8FAA-4A2A-8562-D3B38F3E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530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04:30–05:00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A9CE05-5EC1-4689-BED5-B9BEA21D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15302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Проверить сценарий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A794D3-4FEB-4440-AEF6-8D1E4700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53025"/>
            <a:ext cx="5029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Пересчёт, крайние значения, ясность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D52F8B-EF64-40D9-8E2F-2E577D61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34050"/>
            <a:ext cx="29432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1F2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927534-4CE6-45CE-8C5C-EEC3F15B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43575"/>
            <a:ext cx="2790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КЛИКАБЕЛЬНЫЙ MVP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380A9A-B757-44B2-8BDC-9E95066B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715000"/>
            <a:ext cx="741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Без интеграции с городскими системами и без реальных бюджетных решений.</a:t>
            </a:r>
          </a:p>
        </p:txBody>
      </p:sp>
    </p:spTree>
    <p:extLst>
      <p:ext uri="{BB962C8B-B14F-4D97-AF65-F5344CB8AC3E}">
        <p14:creationId xmlns:p14="http://schemas.microsoft.com/office/powerpoint/2010/main" val="764305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CFA35F-A039-4C08-ABB9-4216109C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ОЦЕНКА ЭФФЕКТА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79ED1-E572-46A2-988B-659597DD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Пилот проверяет понимание, а не предсказывает город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60C0E-35C1-4495-9F2E-71FCBAB1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24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45DAD-AC40-4DD3-AB55-744802EE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7BAC0"/>
                </a:solidFill>
                <a:latin typeface="Arial"/>
                <a:ea typeface="Arial"/>
                <a:cs typeface="Arial"/>
              </a:rPr>
              <a:t>ASTANA INNOVATIONS  /  СПЕЦТРЕК «УМНЫЙ ГОРОД»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022E92-F3B3-477A-A88E-5254ACBF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484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7BAC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03CC4-7EE0-404A-9B48-C12D883F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3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проверить до масштабирования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E683E-80D7-4B45-A93C-282A791A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638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Понимание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6210B-D1CE-43F8-BB09-BB238A51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14575"/>
            <a:ext cx="31527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Может ли участник объяснить эффект выбора?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DAD9F-8E36-4D39-BA50-CFDF46E3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905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5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C45874-F52B-4F2F-9797-5F99F03A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638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Сравнение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4CC1F-3DA8-4866-9506-087F06A0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14700"/>
            <a:ext cx="31527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Отличает ли группы от сбалансированного сценария?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5F0450-75A5-45CA-A34B-668B7A89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4905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5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5C2561-5242-4825-85BE-E9815D8E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638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Доверие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F317CC-E8F7-4E6E-8BBB-19E8F697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14825"/>
            <a:ext cx="31527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Понимает ли допущения и ограничения score?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840188-DD0A-4A8E-A948-1C3557C8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905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5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AAFD21-A049-476F-BADF-62ABEE0D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38275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5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8000CE-EE74-4418-8BF6-CD521E00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382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Пилотный результат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5A2B97-F135-4A5F-B818-B5D0C3A8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57400"/>
            <a:ext cx="4267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Проверенная игровая сессия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35947F-29D1-4513-A138-02AAB12C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90825"/>
            <a:ext cx="4191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с откалиброванными правилами, понятной методикой и обратной связью жителей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1B07D4-AA61-4C47-8B73-03B39935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67175"/>
            <a:ext cx="28098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84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CB2EB7-2342-4245-AD85-C51FC972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76700"/>
            <a:ext cx="26574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ПОСЛЕ ПИЛОТА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FB369D-C5D7-489B-A3C5-56F6DEE0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72000"/>
            <a:ext cx="4171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Решить, какие данные и интеграции нужны для следующего этапа.</a:t>
            </a:r>
          </a:p>
        </p:txBody>
      </p:sp>
    </p:spTree>
    <p:extLst>
      <p:ext uri="{BB962C8B-B14F-4D97-AF65-F5344CB8AC3E}">
        <p14:creationId xmlns:p14="http://schemas.microsoft.com/office/powerpoint/2010/main" val="5906082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EA5D50-2EC8-4377-80C4-8E0DFA43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ЗАПРОС К ВЛАДЕЛЬЦУ ЗАДАЧИ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F056F-363A-4E79-A5D6-FD2E39A4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54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Для следующего шага нужны методика и предметные эксперты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3D6DA-9E59-4935-83DF-5B9124E6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431735-89AA-4CE7-8323-843A6A56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C76"/>
                </a:solidFill>
                <a:latin typeface="Arial"/>
                <a:ea typeface="Arial"/>
                <a:cs typeface="Arial"/>
              </a:rPr>
              <a:t>ASTANA INNOVATIONS  /  СПЕЦТРЕК «УМНЫЙ ГОРОД»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6E8502-44DD-4F09-8AA1-AF2E231E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484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C7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2A11E-79D7-4414-9B2A-6B5695CD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У прототипа уже есть форма продукта.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5FAAB-5244-464F-8210-36A42C6E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667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Чтобы превратить демонстрацию в городской инструмент, нужно согласовать правила с владельцем кейса.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8EE3F3-0CF2-42E9-87F3-2C8C5A51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4305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1F2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7FC9C-2012-4947-8A78-CB60656D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6383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7E10F-384B-4D46-B40D-7C3D1B6B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19250"/>
            <a:ext cx="396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2F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F3B"/>
                </a:solidFill>
                <a:latin typeface="Arial"/>
                <a:ea typeface="Arial"/>
                <a:cs typeface="Arial"/>
              </a:rPr>
              <a:t>Метрики качества жизни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89230B-9C8F-428E-A8B6-D34468B3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4057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667CCB-62C2-416D-B779-C1908B02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1F2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BFD7A8-1ED7-4DE2-B08D-ECEFB81B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857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1D2D70-EF2A-4FF5-BE67-3694B793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38450"/>
            <a:ext cx="396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2F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F3B"/>
                </a:solidFill>
                <a:latin typeface="Arial"/>
                <a:ea typeface="Arial"/>
                <a:cs typeface="Arial"/>
              </a:rPr>
              <a:t>Веса и причинные правила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5DCE12-875A-4CB7-91A5-59B29F43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86150"/>
            <a:ext cx="4057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829F5-E4D8-4635-97CC-CA2ABA9D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8145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1F2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26782A-358D-475F-A450-C12F07A5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767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AC2257-9181-4FEA-A364-709A2E4B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57650"/>
            <a:ext cx="396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3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2F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F3B"/>
                </a:solidFill>
                <a:latin typeface="Arial"/>
                <a:ea typeface="Arial"/>
                <a:cs typeface="Arial"/>
              </a:rPr>
              <a:t>Допустимые данные для калибровки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ABCB1C-A511-45F5-A169-09BB6133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05350"/>
            <a:ext cx="4057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A58B62-B765-447C-B36B-4EBAEA70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E09C7A-104D-4015-9AC7-A28E84B2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457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2F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2F3B"/>
                </a:solidFill>
                <a:latin typeface="Arial"/>
                <a:ea typeface="Arial"/>
                <a:cs typeface="Arial"/>
              </a:rPr>
              <a:t>Результат спринта: интерактивная демонстрация, прозрачная формула и план пилота.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E0D920-87F6-4F5D-A630-9B1CFE1B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9275"/>
            <a:ext cx="2762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0B7A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0A88E4-B272-457D-8E2C-E3405D84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2609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ГОТОВ К СОВМЕСТНОЙ КАЛИБРОВКЕ</a:t>
            </a:r>
          </a:p>
        </p:txBody>
      </p:sp>
    </p:spTree>
    <p:extLst>
      <p:ext uri="{BB962C8B-B14F-4D97-AF65-F5344CB8AC3E}">
        <p14:creationId xmlns:p14="http://schemas.microsoft.com/office/powerpoint/2010/main" val="5133185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2026-09-23T09:04:35.3720000Z</dcterms:created>
  <dcterms:modified xsi:type="dcterms:W3CDTF">2026-09-23T09:04:35.3720000Z</dcterms:modified>
</coreProperties>
</file>