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87fce50da744b4" /><Relationship Type="http://schemas.openxmlformats.org/officeDocument/2006/relationships/extended-properties" Target="/docProps/app.xml" Id="Rfaeee39cc9bb4b6a" /><Relationship Type="http://schemas.openxmlformats.org/officeDocument/2006/relationships/officeDocument" Target="/ppt/presentation.xml" Id="R2dda6fb76d9b49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ec98961f984950"/>
  </p:sldMasterIdLst>
  <p:notesMasterIdLst>
    <p:notesMasterId xmlns:r="http://schemas.openxmlformats.org/officeDocument/2006/relationships" r:id="Re4d970d826574fcd"/>
  </p:notesMasterIdLst>
  <p:sldIdLst>
    <p:sldId xmlns:r="http://schemas.openxmlformats.org/officeDocument/2006/relationships" id="256" r:id="R2a8c092f4ddc4e4d"/>
    <p:sldId xmlns:r="http://schemas.openxmlformats.org/officeDocument/2006/relationships" id="257" r:id="R344f6cc0d052407f"/>
    <p:sldId xmlns:r="http://schemas.openxmlformats.org/officeDocument/2006/relationships" id="258" r:id="R73e15228ed8445c5"/>
    <p:sldId xmlns:r="http://schemas.openxmlformats.org/officeDocument/2006/relationships" id="259" r:id="Rab67f54d216f4c7a"/>
    <p:sldId xmlns:r="http://schemas.openxmlformats.org/officeDocument/2006/relationships" id="260" r:id="Rb902006237124a9f"/>
    <p:sldId xmlns:r="http://schemas.openxmlformats.org/officeDocument/2006/relationships" id="261" r:id="Re549b3ff7f6d4d6b"/>
    <p:sldId xmlns:r="http://schemas.openxmlformats.org/officeDocument/2006/relationships" id="262" r:id="Rb809c134256f4a00"/>
    <p:sldId xmlns:r="http://schemas.openxmlformats.org/officeDocument/2006/relationships" id="263" r:id="Rd290ffcd91014e49"/>
    <p:sldId xmlns:r="http://schemas.openxmlformats.org/officeDocument/2006/relationships" id="264" r:id="R29ee54e240f542a0"/>
    <p:sldId xmlns:r="http://schemas.openxmlformats.org/officeDocument/2006/relationships" id="265" r:id="R35cf7109ef7d46b8"/>
    <p:sldId xmlns:r="http://schemas.openxmlformats.org/officeDocument/2006/relationships" id="266" r:id="Rfeedb5a63feb46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a8b3d2f4f84b37" /><Relationship Type="http://schemas.openxmlformats.org/officeDocument/2006/relationships/slideMaster" Target="/ppt/slideMasters/slideMaster1.xml" Id="R24ec98961f984950" /><Relationship Type="http://schemas.openxmlformats.org/officeDocument/2006/relationships/notesMaster" Target="/ppt/notesMasters/notesMaster1.xml" Id="Re4d970d826574fcd" /><Relationship Type="http://schemas.openxmlformats.org/officeDocument/2006/relationships/presProps" Target="/ppt/presProps.xml" Id="Rb0a4d342eb8347b7" /><Relationship Type="http://schemas.openxmlformats.org/officeDocument/2006/relationships/tableStyles" Target="/ppt/tableStyles.xml" Id="R1a8cd5c45b9a4bc0" /><Relationship Type="http://schemas.openxmlformats.org/officeDocument/2006/relationships/slide" Target="/ppt/slides/slide1.xml" Id="R2a8c092f4ddc4e4d" /><Relationship Type="http://schemas.openxmlformats.org/officeDocument/2006/relationships/slide" Target="/ppt/slides/slide2.xml" Id="R344f6cc0d052407f" /><Relationship Type="http://schemas.openxmlformats.org/officeDocument/2006/relationships/slide" Target="/ppt/slides/slide3.xml" Id="R73e15228ed8445c5" /><Relationship Type="http://schemas.openxmlformats.org/officeDocument/2006/relationships/slide" Target="/ppt/slides/slide4.xml" Id="Rab67f54d216f4c7a" /><Relationship Type="http://schemas.openxmlformats.org/officeDocument/2006/relationships/slide" Target="/ppt/slides/slide5.xml" Id="Rb902006237124a9f" /><Relationship Type="http://schemas.openxmlformats.org/officeDocument/2006/relationships/slide" Target="/ppt/slides/slide6.xml" Id="Re549b3ff7f6d4d6b" /><Relationship Type="http://schemas.openxmlformats.org/officeDocument/2006/relationships/slide" Target="/ppt/slides/slide7.xml" Id="Rb809c134256f4a00" /><Relationship Type="http://schemas.openxmlformats.org/officeDocument/2006/relationships/slide" Target="/ppt/slides/slide8.xml" Id="Rd290ffcd91014e49" /><Relationship Type="http://schemas.openxmlformats.org/officeDocument/2006/relationships/slide" Target="/ppt/slides/slide9.xml" Id="R29ee54e240f542a0" /><Relationship Type="http://schemas.openxmlformats.org/officeDocument/2006/relationships/slide" Target="/ppt/slides/slide10.xml" Id="R35cf7109ef7d46b8" /><Relationship Type="http://schemas.openxmlformats.org/officeDocument/2006/relationships/slide" Target="/ppt/slides/slide11.xml" Id="Rfeedb5a63feb46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55965271bb48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439d192a7748b3" /><Relationship Type="http://schemas.openxmlformats.org/officeDocument/2006/relationships/notesMaster" Target="/ppt/notesMasters/notesMaster1.xml" Id="Rd450b88dd68841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5c7df3409a4d0f" /><Relationship Type="http://schemas.openxmlformats.org/officeDocument/2006/relationships/notesMaster" Target="/ppt/notesMasters/notesMaster1.xml" Id="R2efaca3277f34d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0db3c4a90241a2" /><Relationship Type="http://schemas.openxmlformats.org/officeDocument/2006/relationships/notesMaster" Target="/ppt/notesMasters/notesMaster1.xml" Id="R50bf16105aa743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df20dfe55242fc" /><Relationship Type="http://schemas.openxmlformats.org/officeDocument/2006/relationships/notesMaster" Target="/ppt/notesMasters/notesMaster1.xml" Id="Rdf72682115664f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5119c6cdd846a0" /><Relationship Type="http://schemas.openxmlformats.org/officeDocument/2006/relationships/notesMaster" Target="/ppt/notesMasters/notesMaster1.xml" Id="Redaaede6744649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dabc28b3db4ff4" /><Relationship Type="http://schemas.openxmlformats.org/officeDocument/2006/relationships/notesMaster" Target="/ppt/notesMasters/notesMaster1.xml" Id="Ra949402ea23545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1d2e53e6f94392" /><Relationship Type="http://schemas.openxmlformats.org/officeDocument/2006/relationships/notesMaster" Target="/ppt/notesMasters/notesMaster1.xml" Id="R92bc27cba91c4c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c30ebee2e945e4" /><Relationship Type="http://schemas.openxmlformats.org/officeDocument/2006/relationships/notesMaster" Target="/ppt/notesMasters/notesMaster1.xml" Id="R7179f9a89c0646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34975402064818" /><Relationship Type="http://schemas.openxmlformats.org/officeDocument/2006/relationships/notesMaster" Target="/ppt/notesMasters/notesMaster1.xml" Id="Rd768e97f032049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320a01cf6749c5" /><Relationship Type="http://schemas.openxmlformats.org/officeDocument/2006/relationships/notesMaster" Target="/ppt/notesMasters/notesMaster1.xml" Id="R8a8c665cbecb41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2c6deeab644454" /><Relationship Type="http://schemas.openxmlformats.org/officeDocument/2006/relationships/notesMaster" Target="/ppt/notesMasters/notesMaster1.xml" Id="R0c4671b840a34a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Питч прототипа. Все показатели на слайдах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Score в прототипе равен 100 минус половина суммы модулей отклонений долей от игрового целевого профиля. Профиль 25/15/25/15/20 задан только для демонстрации. Он не является утверждённой методикой или реальной рекомендацией.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значения на слайде иллюстративны. Расчёт использует прозрачную учебную кривую: оценка каждого домена зависит от доли бюджета; затем оценки агрегируются весами. Эти числа не являются оценкой реального качества жизни в Астане.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051ef438147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6256da1f024f97" /><Relationship Type="http://schemas.openxmlformats.org/officeDocument/2006/relationships/slideLayout" Target="/ppt/slideLayouts/slideLayout1.xml" Id="Ra57df033d8e747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7df033d8e747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25ea05596440c" /><Relationship Type="http://schemas.openxmlformats.org/officeDocument/2006/relationships/notesSlide" Target="/ppt/notesSlides/notesSlide1.xml" Id="R765697e9c25b41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0a025ebe34d54" /><Relationship Type="http://schemas.openxmlformats.org/officeDocument/2006/relationships/notesSlide" Target="/ppt/notesSlides/notesSlide2.xml" Id="R4ca218622b074c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08d5407a74b0e" /><Relationship Type="http://schemas.openxmlformats.org/officeDocument/2006/relationships/notesSlide" Target="/ppt/notesSlides/notesSlide3.xml" Id="Rf67ac95712c642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f365de70b4dbc" /><Relationship Type="http://schemas.openxmlformats.org/officeDocument/2006/relationships/chart" Target="/ppt/slides/charts/chart1.xml" Id="R803a6d58cbe04dd9" /><Relationship Type="http://schemas.openxmlformats.org/officeDocument/2006/relationships/notesSlide" Target="/ppt/notesSlides/notesSlide4.xml" Id="Ra8905a6ec4ac4f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f953f1c654e3d" /><Relationship Type="http://schemas.openxmlformats.org/officeDocument/2006/relationships/notesSlide" Target="/ppt/notesSlides/notesSlide5.xml" Id="R69fe24b3c0e449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ec1db78ba46c7" /><Relationship Type="http://schemas.openxmlformats.org/officeDocument/2006/relationships/notesSlide" Target="/ppt/notesSlides/notesSlide6.xml" Id="R899d70861cdb44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2448b06cf4002" /><Relationship Type="http://schemas.openxmlformats.org/officeDocument/2006/relationships/notesSlide" Target="/ppt/notesSlides/notesSlide7.xml" Id="R8c50c9c8d6df45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1b7fd1b6747bb" /><Relationship Type="http://schemas.openxmlformats.org/officeDocument/2006/relationships/notesSlide" Target="/ppt/notesSlides/notesSlide8.xml" Id="Re8d6d89e80ed4a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aa1cf95904076" /><Relationship Type="http://schemas.openxmlformats.org/officeDocument/2006/relationships/notesSlide" Target="/ppt/notesSlides/notesSlide9.xml" Id="R097919ebee334b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ba5caa5b34cea" /><Relationship Type="http://schemas.openxmlformats.org/officeDocument/2006/relationships/notesSlide" Target="/ppt/notesSlides/notesSlide10.xml" Id="R3c3d08796f5c46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6e98ec7e4442e" /><Relationship Type="http://schemas.openxmlformats.org/officeDocument/2006/relationships/notesSlide" Target="/ppt/notesSlides/notesSlide11.xml" Id="R043f1a246a8c4a5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Доля бюджета</c:v>
          </c:tx>
          <c:dPt>
            <c:idx val="0"/>
            <c:spPr>
              <a:solidFill xmlns:a="http://schemas.openxmlformats.org/drawingml/2006/main">
                <a:srgbClr val="20B7AA"/>
              </a:solidFill>
            </c:spPr>
          </c:dPt>
          <c:dPt>
            <c:idx val="1"/>
            <c:spPr>
              <a:solidFill xmlns:a="http://schemas.openxmlformats.org/drawingml/2006/main">
                <a:srgbClr val="D3EE85"/>
              </a:solidFill>
            </c:spPr>
          </c:dPt>
          <c:dPt>
            <c:idx val="2"/>
            <c:spPr>
              <a:solidFill xmlns:a="http://schemas.openxmlformats.org/drawingml/2006/main">
                <a:srgbClr val="FFAD72"/>
              </a:solidFill>
            </c:spPr>
          </c:dPt>
          <c:dPt>
            <c:idx val="3"/>
            <c:spPr>
              <a:solidFill xmlns:a="http://schemas.openxmlformats.org/drawingml/2006/main">
                <a:srgbClr val="80C6D0"/>
              </a:solidFill>
            </c:spPr>
          </c:dPt>
          <c:dPt>
            <c:idx val="4"/>
            <c:spPr>
              <a:solidFill xmlns:a="http://schemas.openxmlformats.org/drawingml/2006/main">
                <a:srgbClr val="AABBB7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Транспорт</c:v>
                </c:pt>
                <c:pt idx="1">
                  <c:v>Озеленение</c:v>
                </c:pt>
                <c:pt idx="2">
                  <c:v>Соцсфера</c:v>
                </c:pt>
                <c:pt idx="3">
                  <c:v>Безопасность</c:v>
                </c:pt>
                <c:pt idx="4">
                  <c:v>Сервисы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600"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5D30D1-B520-45E5-995A-5DC47501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4229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4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DBEEF-B8EA-4833-8E54-E7C606BF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ASTANA INNOVATIONS   /   HACKATHON SPECIAL TRACK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5C103-B3B7-4DAA-9843-7EE5FCC5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974"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Аким на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часов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02CAD-E7E8-4F0D-BE79-3CB5A189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3E0E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3E0E0"/>
                </a:solidFill>
                <a:latin typeface="Arial"/>
                <a:ea typeface="Arial"/>
                <a:cs typeface="Arial"/>
              </a:rPr>
              <a:t>Городской бюджет как интерактивный выбор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60879-5DBD-4F92-8382-D020F013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619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FC4C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FC4C8"/>
                </a:solidFill>
                <a:latin typeface="Arial"/>
                <a:ea typeface="Arial"/>
                <a:cs typeface="Arial"/>
              </a:rPr>
              <a:t>Симулятор показывает, как приоритеты расходов меняют качество жизни в городе.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1708C-A2E6-46E4-988C-C059A765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885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3EE8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B6740-39DD-4D87-ADBD-0C16B0DC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4352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ПРОТОТИП ЗА 5 ЧАСОВ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EDF4D-F069-4747-8372-888EADFA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Концепция  /  работающая демонстрационная модель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C5347-8E8A-45AA-80F7-70AE7343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429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ОДИН БЮДЖЕТ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7FA6C-4CC7-439D-8873-D92441CA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2395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034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9BF0B-AA0F-4369-AC4A-C2011AEA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3525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млрд 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C383D-3E18-4E4D-A074-D3B8A311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52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Транспорт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2836A-3A1B-4FC1-87E6-D7D22F12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46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CA59E-1501-44FE-A868-4542B7DA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857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341C73-6D56-4D80-855D-B394F0B2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3526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D46F7-E49D-4288-973D-F748DA18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575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Озеленение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EE07A-B2A6-45E5-836E-2C1A3CAD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46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31641-07F9-4462-A36D-55081970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571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EE8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D46B1-176C-4373-B78D-11CF36E7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0575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C5731E-0431-4AA4-942A-628A0E9E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Соцсфера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E7D02-FD50-4069-952E-4D05DD3C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46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2AAB3-A312-468A-886B-839EFD21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571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D7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205ED9-5936-4F15-9414-7022CDCC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762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7238F-ED08-4551-B39B-86DD9E08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672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44310A-40C6-4A2B-BF50-F46D4BD2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46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887B06-F43E-4572-ADF6-A4060B19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428625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C6D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66D2A7-EC85-46BF-ADA0-0735AD9D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4672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27B5BA-6375-4A0C-892B-4CC86E2A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720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Сервисы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42CE82-60C0-419C-B557-D7B7A018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24500"/>
            <a:ext cx="2857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46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3BE82B-6197-4CBC-8E34-B14AC31D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24500"/>
            <a:ext cx="428625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BB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3B62FE-444C-479B-9E89-4987C757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172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0A670F-5E6E-47A7-982D-8522F987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19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5 направлений  /  5 решений</a:t>
            </a:r>
          </a:p>
        </p:txBody>
      </p:sp>
    </p:spTree>
    <p:extLst>
      <p:ext uri="{BB962C8B-B14F-4D97-AF65-F5344CB8AC3E}">
        <p14:creationId xmlns:p14="http://schemas.microsoft.com/office/powerpoint/2010/main" val="20902936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0803BA-8C1D-4064-8E79-F8B59943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DE5D4-13D9-4D5A-AC92-E6C18871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Каждый бюджетный выбор создаёт побочные эффекты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AC91A-C26C-46E8-990B-A09A4FEE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B27FE-580D-4ECF-8FED-4064BD53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EEA87-53A2-48D2-B823-F5EEAB4B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EDCBE-3346-42B3-A172-C1C2D7EC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4686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764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Городской бюджет конечен.</a:t>
            </a:r>
          </a:p>
          <a:p xmlns:a="http://schemas.openxmlformats.org/drawingml/2006/main">
            <a:pPr>
              <a:defRPr sz="240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Ожидания жителей разнородны.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73A23-23D8-493A-82DA-E218502D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4514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Решение об одной статье меняет возможности в других направлениях.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BCDC1-8774-4645-976B-BF2D79C3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A8FD7-437B-4F25-B09A-548BBC32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4438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Без общего сценария спорят о приоритетах, а не о последствиях.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9CC95-5DF7-403E-A2C3-E6585EC5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52575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B535E-DB12-4CE8-BDED-8EEAFA74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383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94D03-2A0B-4E4E-883F-B804B011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525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Транспорт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A797A-CEB3-4BA6-B4E8-429E2226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4267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Доступность поездок и время в пути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A1EB3-797F-458C-A382-7F533C4C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01DFE-7BE6-4F13-8601-777F9443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81325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E999B-EF32-4EAD-BD89-FDF25DC0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DFB0F-110E-46F4-88ED-6A6B1EF5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813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Социальная сфера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E747DD-D14D-4D18-A426-A6CBEE6C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90900"/>
            <a:ext cx="4267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Доступ к поддержке и общественным услугам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974C6F-A885-460B-8AF5-7DBE362B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1480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DF435-C591-4683-A99C-B9E04BCE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10075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FB13D-A6E4-480D-89AB-44804B23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958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249824-653B-439B-A29A-94D10465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100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Городская среда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B1A780-A626-4FE9-A356-990CE7C2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19650"/>
            <a:ext cx="4267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Зелёные зоны, безопасность, сервисы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A6AE8-E18F-4DF1-B5F1-D33DD87F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1025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Это рамка для обсуждения, не замена бюджетному анализу.</a:t>
            </a:r>
          </a:p>
        </p:txBody>
      </p:sp>
    </p:spTree>
    <p:extLst>
      <p:ext uri="{BB962C8B-B14F-4D97-AF65-F5344CB8AC3E}">
        <p14:creationId xmlns:p14="http://schemas.microsoft.com/office/powerpoint/2010/main" val="9262487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776654-3763-46F2-A5A1-417A9DF1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48081-279B-4A9A-9257-B27C5B41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сценарий превращает спор в сравнение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5F6D9-7BC2-4333-9091-F4113593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24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F4B6D-447E-4445-B2A2-19885C7A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C776B-6B9E-40A7-8455-E4B8A707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67EAB-A97F-430A-9EFA-5C1DE8DF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466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Каждый игрок получает одинаковый виртуальный бюджет.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B4B5E-949F-460D-904C-03430ACD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4476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Изменяет пять долей и сразу видит сдвиг показателей.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6179A-48B3-4ACA-86A3-011B2A6D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21240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84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F9015-6AA0-4E21-BDEC-100EB83E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1971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ПРОЗРАЧНЫЕ ПРАВИЛА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D7300-2FD1-432F-A21A-1AF71EB8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059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Итоговый индекс сопровождается разбором выигрышей и компромиссов.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3375B-EABD-4D50-B5B9-F77ACBD9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38300"/>
            <a:ext cx="1866900" cy="30670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2344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3741D-B404-4F97-95E7-C39B921B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383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8E678-2255-47B9-9406-C0A2D4A2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47925"/>
            <a:ext cx="1504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Бюджет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858C0-3538-4E58-ABFC-795F54B8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67075"/>
            <a:ext cx="150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76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40322-B89E-4F10-89EE-06B7337F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766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100 млрд ₸ по 5 направлениям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05CCB-EF85-498B-9700-48CC8E8F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76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111F1-54CD-4C98-ACB2-A3840B3E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38300"/>
            <a:ext cx="1866900" cy="30670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2344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248D46-490B-4DAC-B760-1435CBAE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383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F0F9C-D133-4826-997A-C401CF65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47925"/>
            <a:ext cx="1504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98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Рассчитать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749195-79DD-4360-B162-A65E7C7B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67075"/>
            <a:ext cx="150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76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739A36-54F5-42D5-B91E-7F81A7D0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766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Показатели и перекрёстные эффекты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5AAAD-00C6-4B32-89EB-25EDFAC6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76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E71BD-92AC-4FB6-ADDB-CC1E988A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38300"/>
            <a:ext cx="1866900" cy="30670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2344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3FB285-387D-4650-B1ED-6F343EA4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383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DACEF6-751E-4F17-87E5-DB337414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47925"/>
            <a:ext cx="1504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81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Объяснить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31D8D2-E0A8-4FA2-B054-8A00380B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67075"/>
            <a:ext cx="150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76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6E35AE-8E02-42A9-8A3D-C0BA6100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76625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Почему score изменился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FEE002-2346-4E96-B101-2DDDC418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105400"/>
            <a:ext cx="579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Пользователь видит не только итог, но и логику результата.</a:t>
            </a:r>
          </a:p>
        </p:txBody>
      </p:sp>
    </p:spTree>
    <p:extLst>
      <p:ext uri="{BB962C8B-B14F-4D97-AF65-F5344CB8AC3E}">
        <p14:creationId xmlns:p14="http://schemas.microsoft.com/office/powerpoint/2010/main" val="7995468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54A168-1932-4AD9-9D04-A78CB54F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ПРОДУКТ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4752F-D90E-45ED-9D74-1775BCDE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Игровой экран: решения и последствия на одном поле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9B044-AFDA-4A67-B8F6-AD96AFE7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4CDFA-904B-4F6A-BFC4-181ED8B1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29CFF-2A93-4E04-8000-5B5F2EBA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BC146-2DCA-4FC7-98A2-1B48B04F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68580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5E184-B0B2-43B5-A390-AE38C336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3952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Распределение городского бюджета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8C64D-CA71-4EF5-8134-581C40BD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00200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03581-2644-4D14-9DA0-2BFA442D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9725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100 млрд 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AE16A-7A19-4ACB-ABCB-4CE754FD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Ваша стратегия · 100 млрд 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41993-80F2-4447-B46E-E4D73050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Транспорт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52D4E-9B6F-44F1-8724-84FDBF2D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28900"/>
            <a:ext cx="338137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A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9E981-B4F6-4514-AA93-79975D21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28900"/>
            <a:ext cx="22542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D0721-33D8-4846-96D0-DEDEE44C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431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30% / 30 млрд 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5E964-6088-4738-A4D5-25C34AA0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Озеленение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52791-534C-4429-826B-F2AC591C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62300"/>
            <a:ext cx="338137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A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3EAD9-4C1F-403A-AF43-2F4A3E66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62300"/>
            <a:ext cx="1502833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76EE7-159E-4B69-875A-268BEF98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765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20% / 20 млрд 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878DA-9D79-4CA0-B827-A9419745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Соцсфера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552A8E-6221-41F5-8DBE-A3443FA5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95700"/>
            <a:ext cx="338137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AE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FD3A1F-268C-4206-940F-AC0E7807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95700"/>
            <a:ext cx="1502833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9D7EF-F062-4714-B4BE-37649A9D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99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20% / 20 млрд 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71EA46-D75E-4F2C-886B-9E8C5071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F3363-CC5A-4092-B3FD-1B34BDE4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29100"/>
            <a:ext cx="338137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AE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9EC436-DE6E-4571-98A4-E79C1B71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29100"/>
            <a:ext cx="1127125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9DCD8B-3BBE-4DA1-AD49-45D4C0CF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433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15% / 15 млрд 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125409-CB2C-47EC-B4A9-A2A74C27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767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Сервисы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4CA044-A44E-48C5-92AC-3E625A3E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62500"/>
            <a:ext cx="338137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AE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F57BF9-93A4-4118-96D2-2F293626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62500"/>
            <a:ext cx="1127125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E234AE-14DE-4569-A86E-4FAA411F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76775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15% / 15 млрд 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06D789-1562-4D87-9D9F-642DAC4D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Доли меняются интерактивно; общий бюджет остаётся фиксированным.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F20AA7-E8BB-4F06-8DEA-FE461767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38275"/>
            <a:ext cx="3752850" cy="434340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69B951-3579-4D2C-AFEB-AC88F3C2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5735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ASTANA QUALITY OF LIFE SCORE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4D205C-322B-4EE7-8E37-F89FF480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81200"/>
            <a:ext cx="2238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53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0EBA93-22ED-4AD7-8929-C271084D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05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/ 100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241C7A-9F6D-48ED-98C4-8B015BDA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076450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ИГРОВОЙ</a:t>
            </a:r>
          </a:p>
          <a:p xmlns:a="http://schemas.openxmlformats.org/drawingml/2006/main">
            <a:pPr>
              <a:defRPr sz="90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БАЛЛ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BC8E35-8F3A-4CA2-812C-6EFFF094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95575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B8E4F1-F76D-40E9-BA92-95A467E6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098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Бюджет и сводка ИИ</a:t>
            </a:r>
          </a:p>
        </p:txBody>
      </p:sp>
      <p:graphicFrame>
        <p:nvGraphicFramePr>
          <p:cNvPr id="95" name="Chart"/>
          <p:cNvGraphicFramePr/>
          <p:nvPr/>
        </p:nvGraphicFramePr>
        <p:xfrm>
          <a:off xmlns:a="http://schemas.openxmlformats.org/drawingml/2006/main" x="8001000" y="3076575"/>
          <a:ext xmlns:a="http://schemas.openxmlformats.org/drawingml/2006/main" cx="1352550" cy="1352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3a6d58cbe04dd9"/>
          </a:graphicData>
        </a:graphic>
      </p:graphicFrame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648B7A-DA2F-442C-9589-CF0D23F7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209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0E2845-1E8E-409C-98AB-9EEBDB4D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432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Транспорт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0EEDD8-BB8B-4E02-A448-00322FB8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1432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423E01-91E6-469D-84CB-A7C74DAF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48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EE85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D4532E-F81F-4E52-873B-932E6E04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3813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Озеленение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DBD37F-1E98-4319-991E-AA90CF47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381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263201-CAD6-4774-A154-5ED552F4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686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D72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070517-D91C-4878-98E9-925DF023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6195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Соцсфера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D2076A-9DA2-4107-B768-770AF3DA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619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C73A4A-B3A1-45C9-8DBF-FFC79659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C6D0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F2D258-F24E-4288-99DF-2CF3D1EC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85762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BD6F6E-8208-4F60-9F7C-88DF5BCB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8576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13203A-5208-4EB3-9AB3-79478919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162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BBB7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7F446B-63A5-4F1B-95FF-701128CD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0957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Сервисы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341E56-D912-4CC8-A9C1-63060282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095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770FC1-EEAB-457B-8EDF-18F6EC0F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86275"/>
            <a:ext cx="3295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ИИ-сводка: транспорт соответствует сценарию. Соцсфера и сервисы получили меньше целевого.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80BB6F-C654-4832-B874-D2127FF0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38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100 млрд ₸  /  учебная модель</a:t>
            </a:r>
          </a:p>
        </p:txBody>
      </p:sp>
    </p:spTree>
    <p:extLst>
      <p:ext uri="{BB962C8B-B14F-4D97-AF65-F5344CB8AC3E}">
        <p14:creationId xmlns:p14="http://schemas.microsoft.com/office/powerpoint/2010/main" val="3894054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CC3F49-4902-4BFB-A56F-6FFC9C48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ОПЫТ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0B2FF-0AD3-44C1-8A6E-6820B5FD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Пять решений строят короткую игровую сессию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801A0-6C38-4A3B-A892-64413AB9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ED978-2A2A-44B4-B84A-7038204D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A3226-ED5A-4108-82C6-FE6E2569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B340D-40FA-4414-990F-E1D8805D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1695450" cy="1819275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12D4C-700E-434F-9A90-5569D317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9050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9B53D-63CF-42FA-AE4C-BF056644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955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Транспорт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4A78E-5260-44F8-826A-21EB6DF8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4322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Решить долю бюджета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B9A2A-F215-49A3-A3A7-B9BAEA41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4098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94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952C5-F487-4E3D-A440-DF3E897D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24025"/>
            <a:ext cx="1695450" cy="1819275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72942-436F-473C-948A-EA63A2E1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050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548E6-4316-46F1-8320-291A82BE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955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Озеленение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46AD0-EA35-490C-B98D-E5928A1A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4322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Выделить средства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47567-394D-4053-9FB2-AC3A35E4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098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94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82618-3D60-42CF-9380-C93D63C9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24025"/>
            <a:ext cx="1695450" cy="1819275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DAE66-14E1-49C6-BD47-B43D8D03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9050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01C13-58C0-44CB-A5EF-4C994228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955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Соцсфера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60F51-A0B9-4054-BB23-D92D49D6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4322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Выбрать приоритет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663D8-8F4C-48E9-8C66-73CA257A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4098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94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1E623-DEDE-479D-8D06-F7937FE0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724025"/>
            <a:ext cx="1695450" cy="1819275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DB1397-F9A9-4494-BC30-27C57474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9050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D778DF-3378-4E67-B842-D2391F53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4955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75AE9-3CF6-4425-B992-6D85FE3A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94322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Назначить долю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90A33E-F389-47D2-A887-C38D6781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0982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94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71B9CF-8922-4D9E-831E-29AA1541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24025"/>
            <a:ext cx="1695450" cy="1819275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EB8259-D5FC-4871-A9D6-337583F1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90500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DD30EA-F880-412D-BCA5-A93D6EE9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955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Сервисы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36209B-4B54-48BC-82D3-2ED8D3CA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4322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Сформировать бюджет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03203B-288C-41EA-A629-6CCE97E1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18F4C0-86AE-4947-AE81-C59CC52F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191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Пять решений по статьям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0319AC-AAB9-4608-A4C1-5D197EDA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4238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Короткий игровой раунд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1C3F28-5D5B-4C23-BC0F-2DF48B8B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400550"/>
            <a:ext cx="4191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Хакатонный спринт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0DBDDA-747B-4CCD-8A07-3C4358C8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9434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MVP за 5 часов в Codex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80C9AE-B605-4D52-8954-CF7658C7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1071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Пять долей бюджета формируют пять решений. После распределения симулятор показывает AQoL.</a:t>
            </a:r>
          </a:p>
        </p:txBody>
      </p:sp>
    </p:spTree>
    <p:extLst>
      <p:ext uri="{BB962C8B-B14F-4D97-AF65-F5344CB8AC3E}">
        <p14:creationId xmlns:p14="http://schemas.microsoft.com/office/powerpoint/2010/main" val="12655774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D9924-22FD-40E5-89C9-CE81D5B2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ПРИНЦИП ДОВЕРИЯ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8B119-25F7-4CD5-AC70-33D879AF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AQoL считает детерминированная модель, ИИ объясняет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FE576-8333-4C02-B793-47881E99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24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7FA2B-FB03-452D-900F-6D34CABA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18596-297D-4A72-922B-031B8276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F6FBA-D37D-4766-B1AF-642A3C74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952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344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C2C08-0603-42C9-8AFE-099DB6E0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47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ВХОД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62E55-55DE-45E6-AC1D-923426C2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0275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Доли бюджета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0151B-4E82-4493-829A-BEA4167F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0574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ABF27-9D83-467B-A12D-294B3128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1952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344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DD159-BCED-4C87-BB1F-EC1FD828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47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F4A5B-26A8-458E-9E26-6BB8F59E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00275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Правила эффектов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310DE-E4E6-44C6-9B60-A0AC01E5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574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07435-43D6-4E60-87BD-622DF702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14500"/>
            <a:ext cx="1952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344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4E25F-4ADE-4CEF-A1DF-975F22C1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847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ПОКАЗАТЕЛИ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E8067-39F7-4845-ADBF-FA1EF8D6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200275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доменов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E30DC-2452-4624-B6C0-9672799D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574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DE97F-E50A-4B83-8207-44A45150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14500"/>
            <a:ext cx="1952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344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93753-D5C1-4C17-9181-F71E5D3B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847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621E3-010B-45EA-9899-3E8C42A5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200275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Взвешенный итог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29A9E8-4579-49DE-BD4F-8D6396E9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5740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C0ADBD-C582-430F-8E92-C9D8F887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14500"/>
            <a:ext cx="195262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344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3E9A19-6E57-4A56-ACF0-DC038534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184785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ОБЪЯСНЕНИЕ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14DEC7-7DC4-4B01-8BBD-E8755D2C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200275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Причины и trade-offs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13F478-19B6-4EFA-A7EC-33597B02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4914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Формула учебного игрового score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E7B510-50A5-43E2-8FBB-9AD9222B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509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= max(0, 100 − 0.5 × Σ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|доля − цель сценария|)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418547-204E-40DF-8287-28438E83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Целевой профиль MVP: 25 / 15 / 25 / 15 / 20%. Это настройка игры.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8A6CDB-42A1-40B5-A349-F129E16D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57575"/>
            <a:ext cx="190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37CCC1-3F00-4161-8545-C5971B11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147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Граница ответственности ИИ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4D39F2-5906-4C16-B7F1-880EEDBB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005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1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 считает score по правилам. ИИ формулирует объяснение на основе расчёта.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870CC-5829-4679-92CD-A36BE074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81575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Так числовой результат воспроизводим, а текст не подменяет методику.</a:t>
            </a:r>
          </a:p>
        </p:txBody>
      </p:sp>
    </p:spTree>
    <p:extLst>
      <p:ext uri="{BB962C8B-B14F-4D97-AF65-F5344CB8AC3E}">
        <p14:creationId xmlns:p14="http://schemas.microsoft.com/office/powerpoint/2010/main" val="20833726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AD4BC8-2270-4CC7-8E45-26D29FD5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ДЕМОНСТРАЦИОННЫЙ РАУНД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D9DED-294F-4369-BA28-9C222EA7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Три стратегии дают предмет для сравнения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95953-3B58-4864-BA37-A6BEE958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79C48-B307-4AE7-8F76-2C521154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A20A1-E766-48B1-BB74-85A80E6C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352F4-66CE-4003-B383-EC178060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668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Один и тот же бюджет 100 млрд ₸  /  учебные оценки по целевому профилю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EA22A-9C1D-4B90-B8C5-BEC1C5AE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3352800" cy="3248025"/>
          </a:xfrm>
          <a:prstGeom xmlns:a="http://schemas.openxmlformats.org/drawingml/2006/main" prst="roundRect">
            <a:avLst>
              <a:gd name="adj" fmla="val 23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5C8CA-B14B-4005-B277-44D07D91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3352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30E46-AC27-4375-B09C-40A911A0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Сбалансированная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32FC9-BEA7-4D06-BE5B-E917A607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20 млрд ₸ на каждое направление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36F3D-DA95-4B41-B442-F0E59206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109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0D7ED-B418-4C32-8B6A-CBD020C2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8137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AQoL / 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03B15-94F6-4EF1-B553-4080708E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428625" cy="224790"/>
          </a:xfrm>
          <a:prstGeom xmlns:a="http://schemas.openxmlformats.org/drawingml/2006/main" prst="roundRect">
            <a:avLst>
              <a:gd name="adj" fmla="val 33898"/>
            </a:avLst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F2F31-6415-43C2-BDCD-79CB89DC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62400"/>
            <a:ext cx="428625" cy="224790"/>
          </a:xfrm>
          <a:prstGeom xmlns:a="http://schemas.openxmlformats.org/drawingml/2006/main" prst="roundRect">
            <a:avLst>
              <a:gd name="adj" fmla="val 33898"/>
            </a:avLst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F3377-78DF-4AE8-A5A7-86BD26EA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962400"/>
            <a:ext cx="428625" cy="224790"/>
          </a:xfrm>
          <a:prstGeom xmlns:a="http://schemas.openxmlformats.org/drawingml/2006/main" prst="roundRect">
            <a:avLst>
              <a:gd name="adj" fmla="val 33898"/>
            </a:avLst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C7CB6-BA7C-4BE3-BB34-44879558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962400"/>
            <a:ext cx="428625" cy="224790"/>
          </a:xfrm>
          <a:prstGeom xmlns:a="http://schemas.openxmlformats.org/drawingml/2006/main" prst="roundRect">
            <a:avLst>
              <a:gd name="adj" fmla="val 33898"/>
            </a:avLst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50037B-3553-4269-B547-EB49F281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62400"/>
            <a:ext cx="428625" cy="224790"/>
          </a:xfrm>
          <a:prstGeom xmlns:a="http://schemas.openxmlformats.org/drawingml/2006/main" prst="roundRect">
            <a:avLst>
              <a:gd name="adj" fmla="val 33898"/>
            </a:avLst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C9E55-995F-4C27-8280-F683EDE2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Отклонение от игрового ориентира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31E33-FFA7-43A9-9E09-30A85A20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66900"/>
            <a:ext cx="3352800" cy="3248025"/>
          </a:xfrm>
          <a:prstGeom xmlns:a="http://schemas.openxmlformats.org/drawingml/2006/main" prst="roundRect">
            <a:avLst>
              <a:gd name="adj" fmla="val 23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D4793A-0AE1-4E38-A4AA-40E104CD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66900"/>
            <a:ext cx="3352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D7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ABFEA6-07E8-46B2-ADD8-51B5E3F6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Приоритет транспорта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17F10E-9E3C-485B-80B6-ABC2371F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43175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40 млрд ₸ транспорту, по 15 остальным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44C12F-5C73-4F48-AC3B-A6184047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71825"/>
            <a:ext cx="109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85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50AE01-D1E6-4A2C-AA05-41A9DE4C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8137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AQoL / 100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C975CE-651C-4E6E-9B74-25FD6267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62400"/>
            <a:ext cx="428625" cy="44958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AD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C1559A-EA56-41DB-AEFA-F2F7307B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62400"/>
            <a:ext cx="428625" cy="168593"/>
          </a:xfrm>
          <a:prstGeom xmlns:a="http://schemas.openxmlformats.org/drawingml/2006/main" prst="roundRect">
            <a:avLst>
              <a:gd name="adj" fmla="val 45198"/>
            </a:avLst>
          </a:prstGeom>
          <a:solidFill xmlns:a="http://schemas.openxmlformats.org/drawingml/2006/main">
            <a:srgbClr val="FFAD7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6CA5A7-7B9E-499C-A624-92B4A06E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62400"/>
            <a:ext cx="428625" cy="168593"/>
          </a:xfrm>
          <a:prstGeom xmlns:a="http://schemas.openxmlformats.org/drawingml/2006/main" prst="roundRect">
            <a:avLst>
              <a:gd name="adj" fmla="val 45198"/>
            </a:avLst>
          </a:prstGeom>
          <a:solidFill xmlns:a="http://schemas.openxmlformats.org/drawingml/2006/main">
            <a:srgbClr val="FFAD7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0E9210-C91B-4DFF-90F4-A9D84FED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62400"/>
            <a:ext cx="428625" cy="168593"/>
          </a:xfrm>
          <a:prstGeom xmlns:a="http://schemas.openxmlformats.org/drawingml/2006/main" prst="roundRect">
            <a:avLst>
              <a:gd name="adj" fmla="val 45198"/>
            </a:avLst>
          </a:prstGeom>
          <a:solidFill xmlns:a="http://schemas.openxmlformats.org/drawingml/2006/main">
            <a:srgbClr val="FFAD7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D82634-A0FC-46E2-9B1E-F0610635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62400"/>
            <a:ext cx="428625" cy="168593"/>
          </a:xfrm>
          <a:prstGeom xmlns:a="http://schemas.openxmlformats.org/drawingml/2006/main" prst="roundRect">
            <a:avLst>
              <a:gd name="adj" fmla="val 45198"/>
            </a:avLst>
          </a:prstGeom>
          <a:solidFill xmlns:a="http://schemas.openxmlformats.org/drawingml/2006/main">
            <a:srgbClr val="FFAD7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F2610F-C890-4162-8679-206D968C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291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Отклонение от игрового ориентира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34E3B4-9A82-4166-BEF4-089627AD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3352800" cy="3248025"/>
          </a:xfrm>
          <a:prstGeom xmlns:a="http://schemas.openxmlformats.org/drawingml/2006/main" prst="roundRect">
            <a:avLst>
              <a:gd name="adj" fmla="val 23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BD02A2-593F-4725-8326-B12B757A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3352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C6D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543D16-43CE-4252-8DF0-46CD968C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Приоритет соцсферы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3622BF-A0C8-4EA6-BEA3-B572214A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43175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36 млрд ₸ социальной сфере, по 16 остальным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438638-9A4D-4C02-B4B4-B8CC1719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71825"/>
            <a:ext cx="109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87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0C043D-DC1D-468B-A0ED-53FECC97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81375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AQoL / 100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662813-A6CB-418B-BEFE-87842BBC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428625" cy="179832"/>
          </a:xfrm>
          <a:prstGeom xmlns:a="http://schemas.openxmlformats.org/drawingml/2006/main" prst="roundRect">
            <a:avLst>
              <a:gd name="adj" fmla="val 42373"/>
            </a:avLst>
          </a:prstGeom>
          <a:solidFill xmlns:a="http://schemas.openxmlformats.org/drawingml/2006/main">
            <a:srgbClr val="80C6D0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BCE164-00B0-4137-AB45-09924A12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62400"/>
            <a:ext cx="428625" cy="179832"/>
          </a:xfrm>
          <a:prstGeom xmlns:a="http://schemas.openxmlformats.org/drawingml/2006/main" prst="roundRect">
            <a:avLst>
              <a:gd name="adj" fmla="val 42373"/>
            </a:avLst>
          </a:prstGeom>
          <a:solidFill xmlns:a="http://schemas.openxmlformats.org/drawingml/2006/main">
            <a:srgbClr val="80C6D0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462BC2-F6CF-4E80-8763-2A8A707F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62400"/>
            <a:ext cx="428625" cy="404622"/>
          </a:xfrm>
          <a:prstGeom xmlns:a="http://schemas.openxmlformats.org/drawingml/2006/main" prst="roundRect">
            <a:avLst>
              <a:gd name="adj" fmla="val 18832"/>
            </a:avLst>
          </a:prstGeom>
          <a:solidFill xmlns:a="http://schemas.openxmlformats.org/drawingml/2006/main">
            <a:srgbClr val="80C6D0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877508-CB46-46AA-BEB1-0B971076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962400"/>
            <a:ext cx="428625" cy="179832"/>
          </a:xfrm>
          <a:prstGeom xmlns:a="http://schemas.openxmlformats.org/drawingml/2006/main" prst="roundRect">
            <a:avLst>
              <a:gd name="adj" fmla="val 42373"/>
            </a:avLst>
          </a:prstGeom>
          <a:solidFill xmlns:a="http://schemas.openxmlformats.org/drawingml/2006/main">
            <a:srgbClr val="80C6D0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14EBC4-75BF-4B5C-9E6F-ABFAB4B3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62400"/>
            <a:ext cx="428625" cy="179832"/>
          </a:xfrm>
          <a:prstGeom xmlns:a="http://schemas.openxmlformats.org/drawingml/2006/main" prst="roundRect">
            <a:avLst>
              <a:gd name="adj" fmla="val 42373"/>
            </a:avLst>
          </a:prstGeom>
          <a:solidFill xmlns:a="http://schemas.openxmlformats.org/drawingml/2006/main">
            <a:srgbClr val="80C6D0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75B1D3-EA9C-40F5-B5AF-453A362E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291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Отклонение от игрового ориентира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3C780F-C9C1-4C1C-98A4-2498A699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57825"/>
            <a:ext cx="10668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Для рабочего пилота оценочные правила нужно заменить согласованной методикой и данными.</a:t>
            </a:r>
          </a:p>
        </p:txBody>
      </p:sp>
    </p:spTree>
    <p:extLst>
      <p:ext uri="{BB962C8B-B14F-4D97-AF65-F5344CB8AC3E}">
        <p14:creationId xmlns:p14="http://schemas.microsoft.com/office/powerpoint/2010/main" val="1562973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99F4B4-4459-4A7F-AB25-2C35ABCB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РОЛЬ 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C7FBB-C2CF-4BA5-942E-5C52DB64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 финале ИИ кратко разбирает вашу сессию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6FA92-E443-4D8F-95D0-35B197F4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24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4167F-A1F8-401A-85D8-2DE8DDFB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3B2F1-05E1-4488-A820-510F5FCD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684AD-BD9C-4B38-9CD7-D02E40C5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 MVP ИИ может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99BA9-455B-4E72-92B8-33F359C7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85534-CD68-4A8B-A0B1-AA863415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4312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дать короткое сообщение по результату раунда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95EB3-1CF9-48F2-A52F-8410AEEC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88CCC-C0C0-4B19-AE76-B42973AB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1942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назвать сильные стороны и отступления от игрового профиля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F7369-EDC1-4546-A1AC-AE704B10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FDC7B-2E9D-42B3-862E-A2E28770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9572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пояснить score и распределение на круговой диаграмме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31A5B-9ED6-47D3-AD12-B5D5EB08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38275"/>
            <a:ext cx="19050" cy="397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25D28-9A41-4DBE-BC85-2E7C3271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38275"/>
            <a:ext cx="46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Что увидит игрок в финале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6153A-923A-4BD5-95D5-92B2031A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/ 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E6787-440E-47F0-BF42-5833C358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33600"/>
            <a:ext cx="3248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считает серверная формула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B68B0-D21F-4EB7-B663-389D8D74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765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407321-42E5-44B4-9CD8-77780A42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956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Диаграмма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6AE5F-4936-49F1-8104-223CBD14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095625"/>
            <a:ext cx="3248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показывает 5 долей в тенге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1D409-CA4A-41E1-AA35-5D3444E7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DEB7B8-02E2-4676-B7AA-186C86DB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ИИ-сообщение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165AF-E8B1-4C3E-8C97-25CAA279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057650"/>
            <a:ext cx="3248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что получилось и что улучшить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A3D86-98A5-4DD6-B534-45CCBCBD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0057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1C96B5-04AF-43FF-81AE-94DC5B48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ИИ разбирает уже рассчитанную сессию. Он не меняет бюджет и балл.</a:t>
            </a:r>
          </a:p>
        </p:txBody>
      </p:sp>
    </p:spTree>
    <p:extLst>
      <p:ext uri="{BB962C8B-B14F-4D97-AF65-F5344CB8AC3E}">
        <p14:creationId xmlns:p14="http://schemas.microsoft.com/office/powerpoint/2010/main" val="11893041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2C14A1-6F42-47DD-81DC-211C72C8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ХАКАТОННЫЙ ПЛАН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54B18-758A-4614-8D31-6C117E50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9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План сборки Codex: работающий вертикальный срез за 5 часов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3A9B9-55A0-4609-972B-5D0C8D26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C5F18-7FFC-4E6B-BC90-AB2AF1AF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A157F-5A27-486E-9068-CF4989F3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8871C-FDDF-41E3-BE83-CB7F68A4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00:00–00:30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2C2AD-C6B3-4730-ADAD-8A00E9BB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438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Зафиксировать сценарий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FD9A2-7BF2-461B-89A9-B854BF36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38275"/>
            <a:ext cx="502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100 млрд ₸, 5 направлений, цель игры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CE5E2-A18A-49D4-9FE2-6B431005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DEDAA-8FD7-4622-9C6E-61E5B6A7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00:30–01:30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89835-6D61-40D4-9A9A-D01B42A4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8122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Собрать интерфейс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9A104-0267-4A7D-B3BE-1696A236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81225"/>
            <a:ext cx="502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Распределение и live-результат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0AAA2-7800-41C1-9970-43BE0E0F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61BCA-DDAF-4528-B8A3-CDA5A06F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2417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01:30–02:30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16B0D-3AAF-4AAC-B1D1-AD3E67D4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241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Подключить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FA538-2C39-4970-A2C2-4EB6D1B8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24175"/>
            <a:ext cx="502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Пересчёт долей, оценка, сценарий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F2296-DBFB-4F08-842B-F52AA768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DEE59-4763-479F-B3C4-0142A77F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02:30–03:30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52A0D0-83F2-43E6-BAA4-C964EE26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6712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Добавить объяснение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DFA15-64E3-48CF-8A32-D7E8D0EA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67125"/>
            <a:ext cx="502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Круговая диаграмма и ИИ-сводка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25C38C-E6B3-4BA7-A680-23AE5DE1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5BB8A1-CE39-4CD3-B87E-BD547391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007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03:30–04:30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356EF-F51F-4EC0-98D0-5175E125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100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Подготовить демо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1D2CF-E194-45D5-B939-9BEF092B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0075"/>
            <a:ext cx="502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3 стратегии, подсказки ведущему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0CCE07-3004-46EA-9E18-20A25DD1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B78CD1-CDA9-443A-B9B8-00381716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53025"/>
            <a:ext cx="1666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04:30–05:00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C0D7C9-A32C-49DC-968C-68121A94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5302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Проверить сценарий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312A48-7EEF-41DF-B93C-7DCB807D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53025"/>
            <a:ext cx="5029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Пересчёт, крайние значения, ясность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C620BF-BB82-4DF4-B3B1-2E396FAC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29432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6480E7-6465-4ED4-9F3B-544BF884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43575"/>
            <a:ext cx="2790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КЛИКАБЕЛЬНЫЙ MVP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05F2B6-C289-42C8-AB4B-71D460B4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715000"/>
            <a:ext cx="741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Ориентир учебный. Реальные метрики и правила согласуются с Astana Innovations.</a:t>
            </a:r>
          </a:p>
        </p:txBody>
      </p:sp>
    </p:spTree>
    <p:extLst>
      <p:ext uri="{BB962C8B-B14F-4D97-AF65-F5344CB8AC3E}">
        <p14:creationId xmlns:p14="http://schemas.microsoft.com/office/powerpoint/2010/main" val="20938417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79B82F-633D-4A24-A97B-895DD666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ОЦЕНКА ЭФФЕКТА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9A9D5-EAF2-4C01-898A-6F6D0C39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Пилот проверяет понимание, а не предсказывает город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BA115-4202-4255-9864-D8466DC3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24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C6E4B-9262-4AA0-8C25-C3DBDCC6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8A63A-59CB-4C83-8FDE-851F6E7B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7BAC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2490B-3126-48BD-B1E8-E6054D77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проверить до масштабирования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9FEFD-5299-4259-ACAA-872B37FF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638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Понимание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685B9-4B6B-4C89-9718-E6C31EF5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14575"/>
            <a:ext cx="3152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Может ли участник объяснить эффект выбора?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B1112-2338-4ABD-8A88-A0F9E6C6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D9F8E-4948-4106-BBAA-4BDD1E1F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638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Сравнение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27B9A-B95B-4FB0-A369-1AA68C42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14700"/>
            <a:ext cx="3152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Отличает ли группы от сбалансированного сценария?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21402-B759-4FA4-B970-B191BD51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7FEAB-4AF0-4105-B10F-C63582FF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638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Доверие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D64D6-AC36-43DA-AEFB-693DD150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14825"/>
            <a:ext cx="3152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Понимает ли допущения и ограничения score?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C049A-14BC-40F3-A223-028E28E8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DE106-B710-4759-9739-5EDF3630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38275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7B49A-BDDB-4E5B-93CB-7FC5A252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382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Пилотный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173FB-F482-4BE4-8BEE-022639BC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57400"/>
            <a:ext cx="4267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Проверенная игровая сессия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38055-D196-46F6-86FB-11091C1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90825"/>
            <a:ext cx="419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AC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BAC0"/>
                </a:solidFill>
                <a:latin typeface="Arial"/>
                <a:ea typeface="Arial"/>
                <a:cs typeface="Arial"/>
              </a:rPr>
              <a:t>с откалиброванными правилами, понятной методикой и обратной связью жителей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D5163-7DAC-4E09-ACE5-33887E61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67175"/>
            <a:ext cx="28098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2384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217E5-8166-4982-9EE8-FD635CE1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76700"/>
            <a:ext cx="2657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ПОСЛЕ ПИЛОТА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2729CC-7A23-4D27-9437-80C9A6B9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4171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Решить, какие данные и интеграции нужны для следующего этапа.</a:t>
            </a:r>
          </a:p>
        </p:txBody>
      </p:sp>
    </p:spTree>
    <p:extLst>
      <p:ext uri="{BB962C8B-B14F-4D97-AF65-F5344CB8AC3E}">
        <p14:creationId xmlns:p14="http://schemas.microsoft.com/office/powerpoint/2010/main" val="20947447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CACDBC-E71F-4D51-A7EE-1097B166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B7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B7AA"/>
                </a:solidFill>
                <a:latin typeface="Arial"/>
                <a:ea typeface="Arial"/>
                <a:cs typeface="Arial"/>
              </a:rPr>
              <a:t>ЗАПРОС К ВЛАДЕЛЬЦУ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C2807-337A-49F5-94C1-AD9A43F5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4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Для следующего шага нужны методика и предметные эксперты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C54B8-A50C-4F22-8455-BF3D1D81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3254C-DC20-4DA3-A940-FD6ADAB5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ASTANA INNOVATIONS  /  СПЕЦТРЕК «УМНЫЙ ГОРОД»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7E023-EB5C-4CC2-80A1-3F847294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484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C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9516D-65D8-48A9-92FC-256BC293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У прототипа уже есть форма продукта.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C6C4C-C89B-445C-B1EF-5B46750F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667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C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C76"/>
                </a:solidFill>
                <a:latin typeface="Arial"/>
                <a:ea typeface="Arial"/>
                <a:cs typeface="Arial"/>
              </a:rPr>
              <a:t>Чтобы превратить демонстрацию в городской инструмент, нужно согласовать правила с владельцем кейса.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AC7BE-CF1D-4BF6-872B-F01A3F5E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430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710B2-2401-4217-A464-787CAAF8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6383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62685-641A-46D1-865F-7BA5BD6E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Метрики качества жизни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77362-1491-4B13-B2E5-D1941879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405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722BE-BB23-474C-BF4B-42E7EB33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BFE13-060F-43FE-AC8C-3A6601D1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57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99E4A-1634-43C0-9119-CB3604E4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3845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Веса и причинные правила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462D0-D6C8-4A44-8021-8371DB69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405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E282C-2F17-42B1-99A2-36934EDC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F2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99AC52-F070-4C99-98EB-9F9F493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767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3EE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3EE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13E3F4-C036-4917-BAD0-EFCCED60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57650"/>
            <a:ext cx="3962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3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Допустимые данные для калибровки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7819C-2BFD-4529-9A7A-406E3DBA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05350"/>
            <a:ext cx="4057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D2241B-753E-4681-8ED7-4EFE272B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DC175-A4E5-4EB9-A332-304DA74B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457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2F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F3B"/>
                </a:solidFill>
                <a:latin typeface="Arial"/>
                <a:ea typeface="Arial"/>
                <a:cs typeface="Arial"/>
              </a:rPr>
              <a:t>Результат спринта: интерактивная демонстрация, прозрачная формула и план пилота.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A35A4-C6FE-4C86-B722-405DFE98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2762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0B7A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C57A41-A2B7-4AF9-91DB-5BA86F91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2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2A"/>
                </a:solidFill>
                <a:latin typeface="Arial"/>
                <a:ea typeface="Arial"/>
                <a:cs typeface="Arial"/>
              </a:rPr>
              <a:t>ГОТОВ К СОВМЕСТНОЙ КАЛИБРОВКЕ</a:t>
            </a:r>
          </a:p>
        </p:txBody>
      </p:sp>
    </p:spTree>
    <p:extLst>
      <p:ext uri="{BB962C8B-B14F-4D97-AF65-F5344CB8AC3E}">
        <p14:creationId xmlns:p14="http://schemas.microsoft.com/office/powerpoint/2010/main" val="1212119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2026-09-23T09:29:11.7580000Z</dcterms:created>
  <dcterms:modified xsi:type="dcterms:W3CDTF">2026-09-23T09:29:11.7580000Z</dcterms:modified>
</coreProperties>
</file>